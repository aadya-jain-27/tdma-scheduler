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ec66392f-853b-7a17-e4ee-7fe0d5ee3740}">
          <p14:sldIdLst>
            <p14:sldId id="256"/>
          </p14:sldIdLst>
        </p14:section>
        <p14:section name="Problem" id="{3d28fc4f-f996-93d6-0147-426faf0f30de}">
          <p14:sldIdLst>
            <p14:sldId id="257"/>
            <p14:sldId id="258"/>
          </p14:sldIdLst>
        </p14:section>
        <p14:section name="Part 1" id="{e33868a6-c945-7384-0062-c45c7b9e5e5a}">
          <p14:sldIdLst>
            <p14:sldId id="259"/>
            <p14:sldId id="260"/>
            <p14:sldId id="261"/>
            <p14:sldId id="262"/>
            <p14:sldId id="263"/>
          </p14:sldIdLst>
        </p14:section>
        <p14:section name="Part 2" id="{f1ae8684-f011-2e9d-1891-48464d2d6c46}">
          <p14:sldIdLst>
            <p14:sldId id="264"/>
            <p14:sldId id="265"/>
          </p14:sldIdLst>
        </p14:section>
        <p14:section name="Wrap-up" id="{f065bfa8-dd9a-8dd9-a1fe-03cc22c3388b}">
          <p14:sldIdLst>
            <p14:sldId id="266"/>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E1A2B"/>
                </a:solidFill>
                <a:latin typeface="+mn-lt"/>
              </a:defRPr>
            </a:pPr>
            <a:r>
              <a:rPr sz="1300" b="0" i="0" u="none" strike="noStrike">
                <a:solidFill>
                  <a:srgbClr val="0E1A2B"/>
                </a:solidFill>
                <a:latin typeface="+mn-lt"/>
              </a:rPr>
              <a:t>Extra slots above proven minimum (avg of 40 layouts)</a:t>
            </a:r>
          </a:p>
        </c:rich>
      </c:tx>
      <c:layout/>
      <c:overlay val="0"/>
    </c:title>
    <c:autoTitleDeleted val="0"/>
    <c:plotArea>
      <c:layout/>
      <c:lineChart>
        <c:varyColors val="0"/>
        <c:ser>
          <c:idx val="0"/>
          <c:order val="0"/>
          <c:tx>
            <c:strRef>
              <c:f>Sheet1!$B$1</c:f>
              <c:strCache>
                <c:ptCount val="1"/>
                <c:pt idx="0">
                  <c:v>Largest-First</c:v>
                </c:pt>
              </c:strCache>
            </c:strRef>
          </c:tx>
          <c:spPr>
            <a:solidFill>
              <a:srgbClr val="2A78D6"/>
            </a:solidFill>
            <a:ln w="25400" cap="flat">
              <a:solidFill>
                <a:srgbClr val="2A78D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2A78D6"/>
              </a:solidFill>
              <a:ln w="9525" cap="flat">
                <a:solidFill>
                  <a:srgbClr val="2A78D6"/>
                </a:solidFill>
                <a:prstDash val="solid"/>
                <a:round/>
              </a:ln>
              <a:effectLst/>
            </c:spPr>
          </c:marker>
          <c:cat>
            <c:multiLvlStrRef>
              <c:f>Sheet1!$A$2:$A$6</c:f>
              <c:multiLvlStrCache>
                <c:ptCount val="5"/>
                <c:lvl>
                  <c:pt idx="0">
                    <c:v>16</c:v>
                  </c:pt>
                  <c:pt idx="1">
                    <c:v>32</c:v>
                  </c:pt>
                  <c:pt idx="2">
                    <c:v>64</c:v>
                  </c:pt>
                  <c:pt idx="3">
                    <c:v>100</c:v>
                  </c:pt>
                  <c:pt idx="4">
                    <c:v>150</c:v>
                  </c:pt>
                </c:lvl>
              </c:multiLvlStrCache>
            </c:multiLvlStrRef>
          </c:cat>
          <c:val>
            <c:numRef>
              <c:f>Sheet1!$B$2:$B$6</c:f>
              <c:numCache>
                <c:formatCode>General</c:formatCode>
                <c:ptCount val="5"/>
                <c:pt idx="0">
                  <c:v>0</c:v>
                </c:pt>
                <c:pt idx="1">
                  <c:v>0.05</c:v>
                </c:pt>
                <c:pt idx="2">
                  <c:v>0.17</c:v>
                </c:pt>
                <c:pt idx="3">
                  <c:v>0.25</c:v>
                </c:pt>
                <c:pt idx="4">
                  <c:v>0.17</c:v>
                </c:pt>
              </c:numCache>
            </c:numRef>
          </c:val>
          <c:smooth val="0"/>
        </c:ser>
        <c:ser>
          <c:idx val="1"/>
          <c:order val="1"/>
          <c:tx>
            <c:strRef>
              <c:f>Sheet1!$C$1</c:f>
              <c:strCache>
                <c:ptCount val="1"/>
                <c:pt idx="0">
                  <c:v>DSATUR</c:v>
                </c:pt>
              </c:strCache>
            </c:strRef>
          </c:tx>
          <c:spPr>
            <a:solidFill>
              <a:srgbClr val="EB6834"/>
            </a:solidFill>
            <a:ln w="25400" cap="flat">
              <a:solidFill>
                <a:srgbClr val="EB683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EB6834"/>
              </a:solidFill>
              <a:ln w="9525" cap="flat">
                <a:solidFill>
                  <a:srgbClr val="EB6834"/>
                </a:solidFill>
                <a:prstDash val="solid"/>
                <a:round/>
              </a:ln>
              <a:effectLst/>
            </c:spPr>
          </c:marker>
          <c:cat>
            <c:multiLvlStrRef>
              <c:f>Sheet1!$A$2:$A$6</c:f>
              <c:multiLvlStrCache>
                <c:ptCount val="5"/>
                <c:lvl>
                  <c:pt idx="0">
                    <c:v>16</c:v>
                  </c:pt>
                  <c:pt idx="1">
                    <c:v>32</c:v>
                  </c:pt>
                  <c:pt idx="2">
                    <c:v>64</c:v>
                  </c:pt>
                  <c:pt idx="3">
                    <c:v>100</c:v>
                  </c:pt>
                  <c:pt idx="4">
                    <c:v>150</c:v>
                  </c:pt>
                </c:lvl>
              </c:multiLvlStrCache>
            </c:multiLvlStrRef>
          </c:cat>
          <c:val>
            <c:numRef>
              <c:f>Sheet1!$C$2:$C$6</c:f>
              <c:numCache>
                <c:formatCode>General</c:formatCode>
                <c:ptCount val="5"/>
                <c:pt idx="0">
                  <c:v>0</c:v>
                </c:pt>
                <c:pt idx="1">
                  <c:v>0</c:v>
                </c:pt>
                <c:pt idx="2">
                  <c:v>0.03</c:v>
                </c:pt>
                <c:pt idx="3">
                  <c:v>0</c:v>
                </c:pt>
                <c:pt idx="4">
                  <c:v>0.05</c:v>
                </c:pt>
              </c:numCache>
            </c:numRef>
          </c:val>
          <c:smooth val="0"/>
        </c:ser>
        <c:ser>
          <c:idx val="2"/>
          <c:order val="2"/>
          <c:tx>
            <c:strRef>
              <c:f>Sheet1!$D$1</c:f>
              <c:strCache>
                <c:ptCount val="1"/>
                <c:pt idx="0">
                  <c:v>Final pipeline (and Smallest-Last)</c:v>
                </c:pt>
              </c:strCache>
            </c:strRef>
          </c:tx>
          <c:spPr>
            <a:solidFill>
              <a:srgbClr val="1BAF7A"/>
            </a:solidFill>
            <a:ln w="25400" cap="flat">
              <a:solidFill>
                <a:srgbClr val="1BAF7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1BAF7A"/>
              </a:solidFill>
              <a:ln w="9525" cap="flat">
                <a:solidFill>
                  <a:srgbClr val="1BAF7A"/>
                </a:solidFill>
                <a:prstDash val="solid"/>
                <a:round/>
              </a:ln>
              <a:effectLst/>
            </c:spPr>
          </c:marker>
          <c:cat>
            <c:multiLvlStrRef>
              <c:f>Sheet1!$A$2:$A$6</c:f>
              <c:multiLvlStrCache>
                <c:ptCount val="5"/>
                <c:lvl>
                  <c:pt idx="0">
                    <c:v>16</c:v>
                  </c:pt>
                  <c:pt idx="1">
                    <c:v>32</c:v>
                  </c:pt>
                  <c:pt idx="2">
                    <c:v>64</c:v>
                  </c:pt>
                  <c:pt idx="3">
                    <c:v>100</c:v>
                  </c:pt>
                  <c:pt idx="4">
                    <c:v>150</c:v>
                  </c:pt>
                </c:lvl>
              </c:multiLvlStrCache>
            </c:multiLvlStrRef>
          </c:cat>
          <c:val>
            <c:numRef>
              <c:f>Sheet1!$D$2:$D$6</c:f>
              <c:numCache>
                <c:formatCode>General</c:formatCode>
                <c:ptCount val="5"/>
                <c:pt idx="0">
                  <c:v>0</c:v>
                </c:pt>
                <c:pt idx="1">
                  <c:v>0</c:v>
                </c:pt>
                <c:pt idx="2">
                  <c:v>0</c:v>
                </c:pt>
                <c:pt idx="3">
                  <c:v>0</c:v>
                </c:pt>
                <c:pt idx="4">
                  <c:v>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4A5568"/>
                    </a:solidFill>
                    <a:latin typeface="Arial"/>
                  </a:defRPr>
                </a:pPr>
                <a:r>
                  <a:rPr sz="1200" b="0" i="0" u="none" strike="noStrike">
                    <a:solidFill>
                      <a:srgbClr val="4A5568"/>
                    </a:solidFill>
                    <a:latin typeface="Arial"/>
                  </a:rPr>
                  <a:t>Radios in network</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5568"/>
                </a:solidFill>
                <a:latin typeface="+mn-lt"/>
              </a:defRPr>
            </a:pPr>
            <a:endParaRPr lang="en-US"/>
          </a:p>
        </c:txPr>
        <c:crossAx val="2094734552"/>
        <c:crosses val="autoZero"/>
        <c:auto val="1"/>
        <c:lblAlgn val="ctr"/>
        <c:noMultiLvlLbl val="1"/>
      </c:catAx>
      <c:valAx>
        <c:axId val="2094734552"/>
        <c:scaling>
          <c:orientation val="minMax"/>
          <c:max val="0.3"/>
          <c:min val="0"/>
        </c:scaling>
        <c:delete val="0"/>
        <c:axPos val="l"/>
        <c:majorGridlines>
          <c:spPr>
            <a:ln w="12700" cap="flat">
              <a:solidFill>
                <a:srgbClr val="E2E6EC"/>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A5568"/>
                </a:solidFill>
                <a:latin typeface="+mn-lt"/>
              </a:defRPr>
            </a:pPr>
            <a:endParaRPr lang="en-US"/>
          </a:p>
        </c:txPr>
        <c:crossAx val="2094734554"/>
        <c:crosses val="autoZero"/>
        <c:crossBetween val="between"/>
        <c:majorUnit val="0.1"/>
      </c:valAx>
      <c:spPr>
        <a:noFill/>
        <a:ln>
          <a:noFill/>
        </a:ln>
        <a:effectLst/>
      </c:spPr>
    </c:plotArea>
    <c:legend>
      <c:legendPos val="t"/>
      <c:overlay val="0"/>
      <c:txPr>
        <a:bodyPr/>
        <a:lstStyle/>
        <a:p>
          <a:pPr>
            <a:defRPr sz="1200">
              <a:solidFill>
                <a:srgbClr val="4A5568"/>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 am Aadya. The assignment asks: if many radios share one frequency, who is allowed to talk in which time slot so that nobody collides, while keeping the frame as short as possible. I will show the brain (Part 1), the proof that its answer is optimal, and my approach for EMANE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Radios within 500 m are linked. Rule 1: neighbours cannot share a slot. Rule 2, the hidden terminal: A and C cannot hear each other, so they do not know they collide, but B gets both signals at once and loses both. Rule 3: three or more hops apart, nobody hears both, so they can reuse the slot. That reuse is what makes the frame short.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main idea. I build a second graph called G squared, or the conflict graph, where two radios are joined if they are 1 or 2 hops apart. Then the hard 2-hop rule becomes the normal rule: joined dots get different colours. And colour equals time slot. Building it is simple: for every radio B, connect all of B's neighbours to each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whole pipeline. Step 1 builds the two graphs. Step 2 runs three greedy methods and keeps the best. Step 3 tries to squeeze it with iterated greedy. Step 4 computes the theoretical minimum and, if there is a gap, runs an exact search. Step 5 checks the final answer with separate code. Everything is about 1000 lines of Python including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Finding the true minimum is NP-hard, so I use heuristics. All three use the same greedy step and differ only in the order. Largest-First: busiest radios first. Smallest-Last: repeatedly remove the radio with the fewest conflicts, then colour in reverse. DSATUR: next is the radio whose neighbours already use the most slots. Then iterated greedy, which can never make it worse, and an exact search, which is affordable at 16 nodes.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heuristic alone cannot tell you how good its answer is, so I added a lower bound. On the grid, Node_06 has 8 neighbours, and those 8 are all 2 hops from each other through Node_06, so 9 radios all need different slots. My schedule uses 9, so it is proven optimal. The picture shows the four corners sharing slot 0, because they are 3 hops apart.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only keep direct neighbours apart, you get just 4 slots, but 24 pairs collide at a shared neighbour, shown in red. Ours needs 9 and has zero. Politely: if the brief's example is a 300 m grid, its sample output with 5 slots would have 21 collisions. I think it was only meant to show the format, but it was a nice test that my verifier catches real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check it is not just lucky on 16 nodes, I ran 40 random layouts at each size up to 150 radios. Largest-First sometimes wastes a slot. Smallest-Last never did, which makes sense for distance-based graphs. The full pipeline hit the proven minimum in all 200 networks, in about a tenth of a second at 150 radios.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The bridge reads Part 1's JSON and writes three things: the EMANE TDMA schedule XML, one platform file per radio, and a pathloss table from the same 500 m rule. Each radio runs as its own EMANE instance in its own Linux network namespace, all in one Docker container. Several node IDs in one slot is spatial reuse written in EMANE's own format.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ran 16 emulated radios in EMANE. Every radio pinged all its neighbours at once, first with my schedule, then with the naive one. EMANE's slot tables show each radio only transmitted in its own slot. EMANE also counts every dropped packet with a reason. With 1 ms slots my schedule had zero collision drops, but still lost about 10 percent, and all of those were packets arriving after their slot ended, because 16 emulators share 2 CPU cores on my laptop. To prove that, I reran with 5 ms slots: my schedule delivered every packet on all 84 links, while the naive one still lost 61 percent, all to collisions.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case from the brief has a test. There is a known-answer test, a test that the verifier catches a bad schedule, an edge case, a random property test over 100 layouts, and a round trip test for the EMANE bridge. The stress test also asserts zero collisions on all 200 networks.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Limitations and next steps. My range model is a perfect circle, each radio gets one slot, the topology is static, and the planner is central. Each one has a natural next step, and these are exactly the problems a MANET product would 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I can now run the planner live on the grid or on any coordinates you give me, and show the generated EMANE schedule.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2011680"/>
            <a:ext cx="10881360" cy="137160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749808"/>
            <a:ext cx="11064240" cy="73152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6"/>
                </a:solidFill>
              </a:rPr>
              <a:t>Aadya Jain  ·  TDMA Schedule Planner</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lot chip"/>
          <p:cNvSpPr txBox="1"/>
          <p:nvPr/>
        </p:nvSpPr>
        <p:spPr>
          <a:xfrm>
            <a:off x="640080" y="1280160"/>
            <a:ext cx="4078224" cy="292608"/>
          </a:xfrm>
          <a:prstGeom prst="roundRect">
            <a:avLst>
              <a:gd name="adj" fmla="val 25000"/>
            </a:avLst>
          </a:prstGeom>
          <a:solidFill>
            <a:schemeClr val="accent1"/>
          </a:solidFill>
          <a:ln/>
        </p:spPr>
        <p:txBody>
          <a:bodyPr wrap="square" lIns="0" tIns="0" rIns="0" bIns="0" rtlCol="0" anchor="ctr"/>
          <a:lstStyle/>
          <a:p>
            <a:pPr algn="ctr" indent="0" marL="0">
              <a:buNone/>
            </a:pPr>
            <a:r>
              <a:rPr lang="en-US" sz="1100" b="1" spc="100" kern="0" dirty="0">
                <a:solidFill>
                  <a:schemeClr val="tx1"/>
                </a:solidFill>
              </a:rPr>
              <a:t>SLOT 00  ·  TDMA SCHEDULE PLANNER</a:t>
            </a:r>
            <a:endParaRPr lang="en-US" sz="1100" dirty="0"/>
          </a:p>
        </p:txBody>
      </p:sp>
      <p:sp>
        <p:nvSpPr>
          <p:cNvPr id="3" name="Text 0"/>
          <p:cNvSpPr/>
          <p:nvPr>
            <p:ph idx="100" type="title" hasCustomPrompt="1"/>
          </p:nvPr>
        </p:nvSpPr>
        <p:spPr>
          <a:xfrm>
            <a:off x="640080" y="2011680"/>
            <a:ext cx="10881360" cy="1371600"/>
          </a:xfrm>
          <a:prstGeom prst="rect">
            <a:avLst/>
          </a:prstGeom>
          <a:noFill/>
          <a:ln/>
        </p:spPr>
        <p:txBody>
          <a:bodyPr wrap="square" lIns="0" tIns="0" rIns="0" bIns="0" rtlCol="0" anchor="t"/>
          <a:lstStyle/>
          <a:p>
            <a:pPr algn="l" indent="0" marL="0">
              <a:buNone/>
            </a:pPr>
            <a:r>
              <a:rPr lang="en-US" sz="4400" b="1" dirty="0">
                <a:solidFill>
                  <a:schemeClr val="bg1"/>
                </a:solidFill>
              </a:rPr>
              <a:t>Who talks when?</a:t>
            </a:r>
            <a:endParaRPr lang="en-US" sz="4400" dirty="0"/>
          </a:p>
        </p:txBody>
      </p:sp>
      <p:sp>
        <p:nvSpPr>
          <p:cNvPr id="4" name="Text 2"/>
          <p:cNvSpPr txBox="1"/>
          <p:nvPr/>
        </p:nvSpPr>
        <p:spPr>
          <a:xfrm>
            <a:off x="640080" y="2926080"/>
            <a:ext cx="10058400" cy="548640"/>
          </a:xfrm>
          <a:prstGeom prst="rect">
            <a:avLst/>
          </a:prstGeom>
          <a:noFill/>
          <a:ln/>
        </p:spPr>
        <p:txBody>
          <a:bodyPr wrap="square" lIns="0" tIns="0" rIns="0" bIns="0" rtlCol="0" anchor="ctr"/>
          <a:lstStyle/>
          <a:p>
            <a:pPr indent="0" marL="0">
              <a:buNone/>
            </a:pPr>
            <a:r>
              <a:rPr lang="en-US" sz="2200" dirty="0">
                <a:solidFill>
                  <a:schemeClr val="bg2"/>
                </a:solidFill>
              </a:rPr>
              <a:t>Collision-free TDMA schedules with distance-2 graph colouring, and a bridge into EMANE</a:t>
            </a:r>
            <a:endParaRPr lang="en-US" sz="2200" dirty="0"/>
          </a:p>
        </p:txBody>
      </p:sp>
      <p:sp>
        <p:nvSpPr>
          <p:cNvPr id="5" name="Text 3"/>
          <p:cNvSpPr txBox="1"/>
          <p:nvPr/>
        </p:nvSpPr>
        <p:spPr>
          <a:xfrm>
            <a:off x="640080" y="4114800"/>
            <a:ext cx="3291840" cy="1097280"/>
          </a:xfrm>
          <a:prstGeom prst="rect">
            <a:avLst/>
          </a:prstGeom>
          <a:noFill/>
          <a:ln/>
        </p:spPr>
        <p:txBody>
          <a:bodyPr wrap="square" lIns="0" tIns="0" rIns="0" bIns="0" rtlCol="0" anchor="t"/>
          <a:lstStyle/>
          <a:p>
            <a:pPr indent="0" marL="0">
              <a:buNone/>
            </a:pPr>
            <a:r>
              <a:rPr lang="en-US" sz="3400" b="1" dirty="0">
                <a:solidFill>
                  <a:schemeClr val="accent1"/>
                </a:solidFill>
              </a:rPr>
              <a:t>9 slots</a:t>
            </a:r>
            <a:endParaRPr lang="en-US" sz="3400" dirty="0"/>
          </a:p>
          <a:p>
            <a:pPr indent="0" marL="0">
              <a:buNone/>
            </a:pPr>
            <a:r>
              <a:rPr lang="en-US" sz="1300" dirty="0">
                <a:solidFill>
                  <a:schemeClr val="bg2"/>
                </a:solidFill>
              </a:rPr>
              <a:t>4×4 grid, proven minimum</a:t>
            </a:r>
            <a:endParaRPr lang="en-US" sz="3400" dirty="0"/>
          </a:p>
        </p:txBody>
      </p:sp>
      <p:sp>
        <p:nvSpPr>
          <p:cNvPr id="6" name="Text 4"/>
          <p:cNvSpPr txBox="1"/>
          <p:nvPr/>
        </p:nvSpPr>
        <p:spPr>
          <a:xfrm>
            <a:off x="4206240" y="4114800"/>
            <a:ext cx="3291840" cy="1097280"/>
          </a:xfrm>
          <a:prstGeom prst="rect">
            <a:avLst/>
          </a:prstGeom>
          <a:noFill/>
          <a:ln/>
        </p:spPr>
        <p:txBody>
          <a:bodyPr wrap="square" lIns="0" tIns="0" rIns="0" bIns="0" rtlCol="0" anchor="t"/>
          <a:lstStyle/>
          <a:p>
            <a:pPr indent="0" marL="0">
              <a:buNone/>
            </a:pPr>
            <a:r>
              <a:rPr lang="en-US" sz="3400" b="1" dirty="0">
                <a:solidFill>
                  <a:schemeClr val="accent1"/>
                </a:solidFill>
              </a:rPr>
              <a:t>0</a:t>
            </a:r>
            <a:endParaRPr lang="en-US" sz="3400" dirty="0"/>
          </a:p>
          <a:p>
            <a:pPr indent="0" marL="0">
              <a:buNone/>
            </a:pPr>
            <a:r>
              <a:rPr lang="en-US" sz="1300" dirty="0">
                <a:solidFill>
                  <a:schemeClr val="bg2"/>
                </a:solidFill>
              </a:rPr>
              <a:t>collisions, in my checker and in EMANE</a:t>
            </a:r>
            <a:endParaRPr lang="en-US" sz="3400" dirty="0"/>
          </a:p>
        </p:txBody>
      </p:sp>
      <p:sp>
        <p:nvSpPr>
          <p:cNvPr id="7" name="Text 5"/>
          <p:cNvSpPr txBox="1"/>
          <p:nvPr/>
        </p:nvSpPr>
        <p:spPr>
          <a:xfrm>
            <a:off x="7772400" y="4114800"/>
            <a:ext cx="3291840" cy="1097280"/>
          </a:xfrm>
          <a:prstGeom prst="rect">
            <a:avLst/>
          </a:prstGeom>
          <a:noFill/>
          <a:ln/>
        </p:spPr>
        <p:txBody>
          <a:bodyPr wrap="square" lIns="0" tIns="0" rIns="0" bIns="0" rtlCol="0" anchor="t"/>
          <a:lstStyle/>
          <a:p>
            <a:pPr indent="0" marL="0">
              <a:buNone/>
            </a:pPr>
            <a:r>
              <a:rPr lang="en-US" sz="3400" b="1" dirty="0">
                <a:solidFill>
                  <a:schemeClr val="accent1"/>
                </a:solidFill>
              </a:rPr>
              <a:t>200 / 200</a:t>
            </a:r>
            <a:endParaRPr lang="en-US" sz="3400" dirty="0"/>
          </a:p>
          <a:p>
            <a:pPr indent="0" marL="0">
              <a:buNone/>
            </a:pPr>
            <a:r>
              <a:rPr lang="en-US" sz="1300" dirty="0">
                <a:solidFill>
                  <a:schemeClr val="bg2"/>
                </a:solidFill>
              </a:rPr>
              <a:t>random networks solved optimally</a:t>
            </a:r>
            <a:endParaRPr lang="en-US" sz="3400" dirty="0"/>
          </a:p>
        </p:txBody>
      </p:sp>
      <p:sp>
        <p:nvSpPr>
          <p:cNvPr id="8" name="Text 6"/>
          <p:cNvSpPr txBox="1"/>
          <p:nvPr/>
        </p:nvSpPr>
        <p:spPr>
          <a:xfrm>
            <a:off x="640080" y="6035040"/>
            <a:ext cx="9144000" cy="365760"/>
          </a:xfrm>
          <a:prstGeom prst="rect">
            <a:avLst/>
          </a:prstGeom>
          <a:noFill/>
          <a:ln/>
        </p:spPr>
        <p:txBody>
          <a:bodyPr wrap="square" lIns="0" tIns="0" rIns="0" bIns="0" rtlCol="0" anchor="ctr"/>
          <a:lstStyle/>
          <a:p>
            <a:pPr indent="0" marL="0">
              <a:buNone/>
            </a:pPr>
            <a:r>
              <a:rPr lang="en-US" sz="1400" dirty="0">
                <a:solidFill>
                  <a:schemeClr val="accent6"/>
                </a:solidFill>
              </a:rPr>
              <a:t>Aadya Jain  ·  Vaan Megam Networks, Wireless Developer Internship</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lot chip"/>
          <p:cNvSpPr txBox="1"/>
          <p:nvPr/>
        </p:nvSpPr>
        <p:spPr>
          <a:xfrm>
            <a:off x="548640" y="347472"/>
            <a:ext cx="2980944" cy="292608"/>
          </a:xfrm>
          <a:prstGeom prst="roundRect">
            <a:avLst>
              <a:gd name="adj" fmla="val 25000"/>
            </a:avLst>
          </a:prstGeom>
          <a:solidFill>
            <a:schemeClr val="accent1"/>
          </a:solidFill>
          <a:ln/>
        </p:spPr>
        <p:txBody>
          <a:bodyPr wrap="square" lIns="0" tIns="0" rIns="0" bIns="0" rtlCol="0" anchor="ctr"/>
          <a:lstStyle/>
          <a:p>
            <a:pPr algn="ctr" indent="0" marL="0">
              <a:buNone/>
            </a:pPr>
            <a:r>
              <a:rPr lang="en-US" sz="1100" b="1" spc="100" kern="0" dirty="0">
                <a:solidFill>
                  <a:schemeClr val="tx1"/>
                </a:solidFill>
              </a:rPr>
              <a:t>SLOT 01  ·  THE PROBLEM</a:t>
            </a:r>
            <a:endParaRPr lang="en-US" sz="1100" dirty="0"/>
          </a:p>
        </p:txBody>
      </p:sp>
      <p:sp>
        <p:nvSpPr>
          <p:cNvPr id="3" name="Text 0"/>
          <p:cNvSpPr/>
          <p:nvPr>
            <p:ph idx="100" type="title" hasCustomPrompt="1"/>
          </p:nvPr>
        </p:nvSpPr>
        <p:spPr>
          <a:xfrm>
            <a:off x="548640" y="749808"/>
            <a:ext cx="11064240" cy="731520"/>
          </a:xfrm>
          <a:prstGeom prst="rect">
            <a:avLst/>
          </a:prstGeom>
          <a:noFill/>
          <a:ln/>
        </p:spPr>
        <p:txBody>
          <a:bodyPr wrap="square" lIns="0" tIns="0" rIns="0" bIns="0" rtlCol="0" anchor="t"/>
          <a:lstStyle/>
          <a:p>
            <a:pPr algn="l" indent="0" marL="0">
              <a:buNone/>
            </a:pPr>
            <a:r>
              <a:rPr lang="en-US" sz="3400" b="1" dirty="0">
                <a:solidFill>
                  <a:schemeClr val="tx1"/>
                </a:solidFill>
              </a:rPr>
              <a:t>Three rules decide who can share a slot</a:t>
            </a:r>
            <a:endParaRPr lang="en-US" sz="3400" dirty="0"/>
          </a:p>
        </p:txBody>
      </p:sp>
      <p:sp>
        <p:nvSpPr>
          <p:cNvPr id="4" name="case 1"/>
          <p:cNvSpPr/>
          <p:nvPr/>
        </p:nvSpPr>
        <p:spPr>
          <a:xfrm>
            <a:off x="548640" y="1783080"/>
            <a:ext cx="3520440" cy="4343400"/>
          </a:xfrm>
          <a:prstGeom prst="roundRect">
            <a:avLst>
              <a:gd name="adj" fmla="val 3117"/>
            </a:avLst>
          </a:prstGeom>
          <a:solidFill>
            <a:schemeClr val="bg2"/>
          </a:solidFill>
          <a:ln w="12700">
            <a:solidFill>
              <a:schemeClr val="bg2"/>
            </a:solidFill>
            <a:prstDash val="solid"/>
          </a:ln>
        </p:spPr>
      </p:sp>
      <p:sp>
        <p:nvSpPr>
          <p:cNvPr id="5" name="Text 3"/>
          <p:cNvSpPr txBox="1"/>
          <p:nvPr/>
        </p:nvSpPr>
        <p:spPr>
          <a:xfrm>
            <a:off x="822960" y="1965960"/>
            <a:ext cx="3017520" cy="411480"/>
          </a:xfrm>
          <a:prstGeom prst="rect">
            <a:avLst/>
          </a:prstGeom>
          <a:noFill/>
          <a:ln/>
        </p:spPr>
        <p:txBody>
          <a:bodyPr wrap="square" lIns="0" tIns="0" rIns="0" bIns="0" rtlCol="0" anchor="ctr"/>
          <a:lstStyle/>
          <a:p>
            <a:pPr indent="0" marL="0">
              <a:buNone/>
            </a:pPr>
            <a:r>
              <a:rPr lang="en-US" sz="2000" b="1" dirty="0">
                <a:solidFill>
                  <a:schemeClr val="tx1"/>
                </a:solidFill>
              </a:rPr>
              <a:t>Direct link</a:t>
            </a:r>
            <a:endParaRPr lang="en-US" sz="2000" dirty="0"/>
          </a:p>
        </p:txBody>
      </p:sp>
      <p:sp>
        <p:nvSpPr>
          <p:cNvPr id="6" name="link"/>
          <p:cNvSpPr/>
          <p:nvPr/>
        </p:nvSpPr>
        <p:spPr>
          <a:xfrm>
            <a:off x="1645920" y="3063240"/>
            <a:ext cx="1325880" cy="914"/>
          </a:xfrm>
          <a:prstGeom prst="line">
            <a:avLst/>
          </a:prstGeom>
          <a:noFill/>
          <a:ln w="25400">
            <a:solidFill>
              <a:schemeClr val="accent6"/>
            </a:solidFill>
            <a:prstDash val="solid"/>
          </a:ln>
        </p:spPr>
      </p:sp>
      <p:sp>
        <p:nvSpPr>
          <p:cNvPr id="7" name="node A"/>
          <p:cNvSpPr txBox="1"/>
          <p:nvPr/>
        </p:nvSpPr>
        <p:spPr>
          <a:xfrm>
            <a:off x="1362456" y="2779776"/>
            <a:ext cx="566928" cy="566928"/>
          </a:xfrm>
          <a:prstGeom prst="ellipse">
            <a:avLst/>
          </a:prstGeom>
          <a:solidFill>
            <a:schemeClr val="accent2"/>
          </a:solidFill>
          <a:ln w="12700">
            <a:solidFill>
              <a:schemeClr val="tx1"/>
            </a:solidFill>
          </a:ln>
        </p:spPr>
        <p:txBody>
          <a:bodyPr wrap="square" lIns="0" tIns="0" rIns="0" bIns="0" rtlCol="0" anchor="ctr"/>
          <a:lstStyle/>
          <a:p>
            <a:pPr algn="ctr" indent="0" marL="0">
              <a:buNone/>
            </a:pPr>
            <a:r>
              <a:rPr lang="en-US" sz="1400" b="1" dirty="0">
                <a:solidFill>
                  <a:schemeClr val="bg1"/>
                </a:solidFill>
              </a:rPr>
              <a:t>A</a:t>
            </a:r>
            <a:endParaRPr lang="en-US" sz="1400" dirty="0"/>
          </a:p>
        </p:txBody>
      </p:sp>
      <p:sp>
        <p:nvSpPr>
          <p:cNvPr id="8" name="node B"/>
          <p:cNvSpPr txBox="1"/>
          <p:nvPr/>
        </p:nvSpPr>
        <p:spPr>
          <a:xfrm>
            <a:off x="2688336" y="2779776"/>
            <a:ext cx="566928" cy="566928"/>
          </a:xfrm>
          <a:prstGeom prst="ellipse">
            <a:avLst/>
          </a:prstGeom>
          <a:solidFill>
            <a:schemeClr val="accent1"/>
          </a:solidFill>
          <a:ln w="12700">
            <a:solidFill>
              <a:schemeClr val="tx1"/>
            </a:solidFill>
          </a:ln>
        </p:spPr>
        <p:txBody>
          <a:bodyPr wrap="square" lIns="0" tIns="0" rIns="0" bIns="0" rtlCol="0" anchor="ctr"/>
          <a:lstStyle/>
          <a:p>
            <a:pPr algn="ctr" indent="0" marL="0">
              <a:buNone/>
            </a:pPr>
            <a:r>
              <a:rPr lang="en-US" sz="1400" b="1" dirty="0">
                <a:solidFill>
                  <a:schemeClr val="bg1"/>
                </a:solidFill>
              </a:rPr>
              <a:t>B</a:t>
            </a:r>
            <a:endParaRPr lang="en-US" sz="1400" dirty="0"/>
          </a:p>
        </p:txBody>
      </p:sp>
      <p:sp>
        <p:nvSpPr>
          <p:cNvPr id="9" name="Text 7"/>
          <p:cNvSpPr txBox="1"/>
          <p:nvPr/>
        </p:nvSpPr>
        <p:spPr>
          <a:xfrm>
            <a:off x="822960" y="3840480"/>
            <a:ext cx="3017520" cy="1097280"/>
          </a:xfrm>
          <a:prstGeom prst="rect">
            <a:avLst/>
          </a:prstGeom>
          <a:noFill/>
          <a:ln/>
        </p:spPr>
        <p:txBody>
          <a:bodyPr wrap="square" lIns="0" tIns="0" rIns="0" bIns="0" rtlCol="0" anchor="t"/>
          <a:lstStyle/>
          <a:p>
            <a:pPr indent="0" marL="0">
              <a:buNone/>
            </a:pPr>
            <a:r>
              <a:rPr lang="en-US" sz="1500" dirty="0">
                <a:solidFill>
                  <a:schemeClr val="tx2"/>
                </a:solidFill>
              </a:rPr>
              <a:t>A and B hear each other. Same slot means a crash.</a:t>
            </a:r>
            <a:endParaRPr lang="en-US" sz="1500" dirty="0"/>
          </a:p>
        </p:txBody>
      </p:sp>
      <p:sp>
        <p:nvSpPr>
          <p:cNvPr id="10" name="Text 8"/>
          <p:cNvSpPr txBox="1"/>
          <p:nvPr/>
        </p:nvSpPr>
        <p:spPr>
          <a:xfrm>
            <a:off x="822960" y="5257800"/>
            <a:ext cx="3017520" cy="457200"/>
          </a:xfrm>
          <a:prstGeom prst="rect">
            <a:avLst/>
          </a:prstGeom>
          <a:noFill/>
          <a:ln/>
        </p:spPr>
        <p:txBody>
          <a:bodyPr wrap="square" lIns="0" tIns="0" rIns="0" bIns="0" rtlCol="0" anchor="ctr"/>
          <a:lstStyle/>
          <a:p>
            <a:pPr indent="0" marL="0">
              <a:buNone/>
            </a:pPr>
            <a:r>
              <a:rPr lang="en-US" sz="1800" b="1" dirty="0">
                <a:solidFill>
                  <a:schemeClr val="accent3"/>
                </a:solidFill>
              </a:rPr>
              <a:t>Different slots</a:t>
            </a:r>
            <a:endParaRPr lang="en-US" sz="1800" dirty="0"/>
          </a:p>
        </p:txBody>
      </p:sp>
      <p:sp>
        <p:nvSpPr>
          <p:cNvPr id="11" name="case 2"/>
          <p:cNvSpPr/>
          <p:nvPr/>
        </p:nvSpPr>
        <p:spPr>
          <a:xfrm>
            <a:off x="4297680" y="1783080"/>
            <a:ext cx="3520440" cy="4343400"/>
          </a:xfrm>
          <a:prstGeom prst="roundRect">
            <a:avLst>
              <a:gd name="adj" fmla="val 3117"/>
            </a:avLst>
          </a:prstGeom>
          <a:solidFill>
            <a:schemeClr val="bg2"/>
          </a:solidFill>
          <a:ln w="12700">
            <a:solidFill>
              <a:schemeClr val="bg2"/>
            </a:solidFill>
            <a:prstDash val="solid"/>
          </a:ln>
        </p:spPr>
      </p:sp>
      <p:sp>
        <p:nvSpPr>
          <p:cNvPr id="12" name="Text 10"/>
          <p:cNvSpPr txBox="1"/>
          <p:nvPr/>
        </p:nvSpPr>
        <p:spPr>
          <a:xfrm>
            <a:off x="4572000" y="1965960"/>
            <a:ext cx="3017520" cy="411480"/>
          </a:xfrm>
          <a:prstGeom prst="rect">
            <a:avLst/>
          </a:prstGeom>
          <a:noFill/>
          <a:ln/>
        </p:spPr>
        <p:txBody>
          <a:bodyPr wrap="square" lIns="0" tIns="0" rIns="0" bIns="0" rtlCol="0" anchor="ctr"/>
          <a:lstStyle/>
          <a:p>
            <a:pPr indent="0" marL="0">
              <a:buNone/>
            </a:pPr>
            <a:r>
              <a:rPr lang="en-US" sz="2000" b="1" dirty="0">
                <a:solidFill>
                  <a:schemeClr val="tx1"/>
                </a:solidFill>
              </a:rPr>
              <a:t>Hidden terminal</a:t>
            </a:r>
            <a:endParaRPr lang="en-US" sz="2000" dirty="0"/>
          </a:p>
        </p:txBody>
      </p:sp>
      <p:sp>
        <p:nvSpPr>
          <p:cNvPr id="13" name="link"/>
          <p:cNvSpPr/>
          <p:nvPr/>
        </p:nvSpPr>
        <p:spPr>
          <a:xfrm>
            <a:off x="4892040" y="3063240"/>
            <a:ext cx="1161288" cy="914"/>
          </a:xfrm>
          <a:prstGeom prst="line">
            <a:avLst/>
          </a:prstGeom>
          <a:noFill/>
          <a:ln w="25400">
            <a:solidFill>
              <a:schemeClr val="accent6"/>
            </a:solidFill>
            <a:prstDash val="solid"/>
          </a:ln>
        </p:spPr>
      </p:sp>
      <p:sp>
        <p:nvSpPr>
          <p:cNvPr id="14" name="link"/>
          <p:cNvSpPr/>
          <p:nvPr/>
        </p:nvSpPr>
        <p:spPr>
          <a:xfrm>
            <a:off x="6053328" y="3063240"/>
            <a:ext cx="1170432" cy="914"/>
          </a:xfrm>
          <a:prstGeom prst="line">
            <a:avLst/>
          </a:prstGeom>
          <a:noFill/>
          <a:ln w="25400">
            <a:solidFill>
              <a:schemeClr val="accent6"/>
            </a:solidFill>
            <a:prstDash val="solid"/>
          </a:ln>
        </p:spPr>
      </p:sp>
      <p:sp>
        <p:nvSpPr>
          <p:cNvPr id="15" name="node A"/>
          <p:cNvSpPr txBox="1"/>
          <p:nvPr/>
        </p:nvSpPr>
        <p:spPr>
          <a:xfrm>
            <a:off x="4608576" y="2779776"/>
            <a:ext cx="566928" cy="566928"/>
          </a:xfrm>
          <a:prstGeom prst="ellipse">
            <a:avLst/>
          </a:prstGeom>
          <a:solidFill>
            <a:schemeClr val="accent2"/>
          </a:solidFill>
          <a:ln w="12700">
            <a:solidFill>
              <a:schemeClr val="tx1"/>
            </a:solidFill>
          </a:ln>
        </p:spPr>
        <p:txBody>
          <a:bodyPr wrap="square" lIns="0" tIns="0" rIns="0" bIns="0" rtlCol="0" anchor="ctr"/>
          <a:lstStyle/>
          <a:p>
            <a:pPr algn="ctr" indent="0" marL="0">
              <a:buNone/>
            </a:pPr>
            <a:r>
              <a:rPr lang="en-US" sz="1400" b="1" dirty="0">
                <a:solidFill>
                  <a:schemeClr val="bg1"/>
                </a:solidFill>
              </a:rPr>
              <a:t>A</a:t>
            </a:r>
            <a:endParaRPr lang="en-US" sz="1400" dirty="0"/>
          </a:p>
        </p:txBody>
      </p:sp>
      <p:sp>
        <p:nvSpPr>
          <p:cNvPr id="16" name="node B"/>
          <p:cNvSpPr txBox="1"/>
          <p:nvPr/>
        </p:nvSpPr>
        <p:spPr>
          <a:xfrm>
            <a:off x="5769864" y="2779776"/>
            <a:ext cx="566928" cy="566928"/>
          </a:xfrm>
          <a:prstGeom prst="ellipse">
            <a:avLst/>
          </a:prstGeom>
          <a:solidFill>
            <a:schemeClr val="accent6"/>
          </a:solidFill>
          <a:ln w="12700">
            <a:solidFill>
              <a:schemeClr val="tx1"/>
            </a:solidFill>
          </a:ln>
        </p:spPr>
        <p:txBody>
          <a:bodyPr wrap="square" lIns="0" tIns="0" rIns="0" bIns="0" rtlCol="0" anchor="ctr"/>
          <a:lstStyle/>
          <a:p>
            <a:pPr algn="ctr" indent="0" marL="0">
              <a:buNone/>
            </a:pPr>
            <a:r>
              <a:rPr lang="en-US" sz="1400" b="1" dirty="0">
                <a:solidFill>
                  <a:schemeClr val="bg1"/>
                </a:solidFill>
              </a:rPr>
              <a:t>B</a:t>
            </a:r>
            <a:endParaRPr lang="en-US" sz="1400" dirty="0"/>
          </a:p>
        </p:txBody>
      </p:sp>
      <p:sp>
        <p:nvSpPr>
          <p:cNvPr id="17" name="node C"/>
          <p:cNvSpPr txBox="1"/>
          <p:nvPr/>
        </p:nvSpPr>
        <p:spPr>
          <a:xfrm>
            <a:off x="6940296" y="2779776"/>
            <a:ext cx="566928" cy="566928"/>
          </a:xfrm>
          <a:prstGeom prst="ellipse">
            <a:avLst/>
          </a:prstGeom>
          <a:solidFill>
            <a:schemeClr val="accent2"/>
          </a:solidFill>
          <a:ln w="12700">
            <a:solidFill>
              <a:schemeClr val="tx1"/>
            </a:solidFill>
          </a:ln>
        </p:spPr>
        <p:txBody>
          <a:bodyPr wrap="square" lIns="0" tIns="0" rIns="0" bIns="0" rtlCol="0" anchor="ctr"/>
          <a:lstStyle/>
          <a:p>
            <a:pPr algn="ctr" indent="0" marL="0">
              <a:buNone/>
            </a:pPr>
            <a:r>
              <a:rPr lang="en-US" sz="1400" b="1" dirty="0">
                <a:solidFill>
                  <a:schemeClr val="bg1"/>
                </a:solidFill>
              </a:rPr>
              <a:t>C</a:t>
            </a:r>
            <a:endParaRPr lang="en-US" sz="1400" dirty="0"/>
          </a:p>
        </p:txBody>
      </p:sp>
      <p:sp>
        <p:nvSpPr>
          <p:cNvPr id="18" name="Text 16"/>
          <p:cNvSpPr txBox="1"/>
          <p:nvPr/>
        </p:nvSpPr>
        <p:spPr>
          <a:xfrm>
            <a:off x="4572000" y="3840480"/>
            <a:ext cx="3017520" cy="1097280"/>
          </a:xfrm>
          <a:prstGeom prst="rect">
            <a:avLst/>
          </a:prstGeom>
          <a:noFill/>
          <a:ln/>
        </p:spPr>
        <p:txBody>
          <a:bodyPr wrap="square" lIns="0" tIns="0" rIns="0" bIns="0" rtlCol="0" anchor="t"/>
          <a:lstStyle/>
          <a:p>
            <a:pPr indent="0" marL="0">
              <a:buNone/>
            </a:pPr>
            <a:r>
              <a:rPr lang="en-US" sz="1500" dirty="0">
                <a:solidFill>
                  <a:schemeClr val="tx2"/>
                </a:solidFill>
              </a:rPr>
              <a:t>A and C can't hear each other, but both reach B. B hears noise.</a:t>
            </a:r>
            <a:endParaRPr lang="en-US" sz="1500" dirty="0"/>
          </a:p>
        </p:txBody>
      </p:sp>
      <p:sp>
        <p:nvSpPr>
          <p:cNvPr id="19" name="Text 17"/>
          <p:cNvSpPr txBox="1"/>
          <p:nvPr/>
        </p:nvSpPr>
        <p:spPr>
          <a:xfrm>
            <a:off x="4572000" y="5257800"/>
            <a:ext cx="3017520" cy="457200"/>
          </a:xfrm>
          <a:prstGeom prst="rect">
            <a:avLst/>
          </a:prstGeom>
          <a:noFill/>
          <a:ln/>
        </p:spPr>
        <p:txBody>
          <a:bodyPr wrap="square" lIns="0" tIns="0" rIns="0" bIns="0" rtlCol="0" anchor="ctr"/>
          <a:lstStyle/>
          <a:p>
            <a:pPr indent="0" marL="0">
              <a:buNone/>
            </a:pPr>
            <a:r>
              <a:rPr lang="en-US" sz="1800" b="1" dirty="0">
                <a:solidFill>
                  <a:schemeClr val="accent3"/>
                </a:solidFill>
              </a:rPr>
              <a:t>Different slots</a:t>
            </a:r>
            <a:endParaRPr lang="en-US" sz="1800" dirty="0"/>
          </a:p>
        </p:txBody>
      </p:sp>
      <p:sp>
        <p:nvSpPr>
          <p:cNvPr id="20" name="case 3"/>
          <p:cNvSpPr/>
          <p:nvPr/>
        </p:nvSpPr>
        <p:spPr>
          <a:xfrm>
            <a:off x="8046720" y="1783080"/>
            <a:ext cx="3520440" cy="4343400"/>
          </a:xfrm>
          <a:prstGeom prst="roundRect">
            <a:avLst>
              <a:gd name="adj" fmla="val 3117"/>
            </a:avLst>
          </a:prstGeom>
          <a:solidFill>
            <a:schemeClr val="bg2"/>
          </a:solidFill>
          <a:ln w="12700">
            <a:solidFill>
              <a:schemeClr val="bg2"/>
            </a:solidFill>
            <a:prstDash val="solid"/>
          </a:ln>
        </p:spPr>
      </p:sp>
      <p:sp>
        <p:nvSpPr>
          <p:cNvPr id="21" name="Text 19"/>
          <p:cNvSpPr txBox="1"/>
          <p:nvPr/>
        </p:nvSpPr>
        <p:spPr>
          <a:xfrm>
            <a:off x="8321040" y="1965960"/>
            <a:ext cx="3017520" cy="411480"/>
          </a:xfrm>
          <a:prstGeom prst="rect">
            <a:avLst/>
          </a:prstGeom>
          <a:noFill/>
          <a:ln/>
        </p:spPr>
        <p:txBody>
          <a:bodyPr wrap="square" lIns="0" tIns="0" rIns="0" bIns="0" rtlCol="0" anchor="ctr"/>
          <a:lstStyle/>
          <a:p>
            <a:pPr indent="0" marL="0">
              <a:buNone/>
            </a:pPr>
            <a:r>
              <a:rPr lang="en-US" sz="2000" b="1" dirty="0">
                <a:solidFill>
                  <a:schemeClr val="tx1"/>
                </a:solidFill>
              </a:rPr>
              <a:t>3+ hops apart</a:t>
            </a:r>
            <a:endParaRPr lang="en-US" sz="2000" dirty="0"/>
          </a:p>
        </p:txBody>
      </p:sp>
      <p:sp>
        <p:nvSpPr>
          <p:cNvPr id="22" name="link"/>
          <p:cNvSpPr/>
          <p:nvPr/>
        </p:nvSpPr>
        <p:spPr>
          <a:xfrm>
            <a:off x="8458200" y="3063240"/>
            <a:ext cx="868680" cy="914"/>
          </a:xfrm>
          <a:prstGeom prst="line">
            <a:avLst/>
          </a:prstGeom>
          <a:noFill/>
          <a:ln w="25400">
            <a:solidFill>
              <a:schemeClr val="accent6"/>
            </a:solidFill>
            <a:prstDash val="solid"/>
          </a:ln>
        </p:spPr>
      </p:sp>
      <p:sp>
        <p:nvSpPr>
          <p:cNvPr id="23" name="link"/>
          <p:cNvSpPr/>
          <p:nvPr/>
        </p:nvSpPr>
        <p:spPr>
          <a:xfrm>
            <a:off x="9326880" y="3063240"/>
            <a:ext cx="914400" cy="914"/>
          </a:xfrm>
          <a:prstGeom prst="line">
            <a:avLst/>
          </a:prstGeom>
          <a:noFill/>
          <a:ln w="25400">
            <a:solidFill>
              <a:schemeClr val="accent6"/>
            </a:solidFill>
            <a:prstDash val="solid"/>
          </a:ln>
        </p:spPr>
      </p:sp>
      <p:sp>
        <p:nvSpPr>
          <p:cNvPr id="24" name="link"/>
          <p:cNvSpPr/>
          <p:nvPr/>
        </p:nvSpPr>
        <p:spPr>
          <a:xfrm>
            <a:off x="10241280" y="3063240"/>
            <a:ext cx="914400" cy="914"/>
          </a:xfrm>
          <a:prstGeom prst="line">
            <a:avLst/>
          </a:prstGeom>
          <a:noFill/>
          <a:ln w="25400">
            <a:solidFill>
              <a:schemeClr val="accent6"/>
            </a:solidFill>
            <a:prstDash val="solid"/>
          </a:ln>
        </p:spPr>
      </p:sp>
      <p:sp>
        <p:nvSpPr>
          <p:cNvPr id="25" name="node A"/>
          <p:cNvSpPr txBox="1"/>
          <p:nvPr/>
        </p:nvSpPr>
        <p:spPr>
          <a:xfrm>
            <a:off x="8220456" y="2825496"/>
            <a:ext cx="475488" cy="475488"/>
          </a:xfrm>
          <a:prstGeom prst="ellipse">
            <a:avLst/>
          </a:prstGeom>
          <a:solidFill>
            <a:schemeClr val="accent2"/>
          </a:solidFill>
          <a:ln w="12700">
            <a:solidFill>
              <a:schemeClr val="tx1"/>
            </a:solidFill>
          </a:ln>
        </p:spPr>
        <p:txBody>
          <a:bodyPr wrap="square" lIns="0" tIns="0" rIns="0" bIns="0" rtlCol="0" anchor="ctr"/>
          <a:lstStyle/>
          <a:p>
            <a:pPr algn="ctr" indent="0" marL="0">
              <a:buNone/>
            </a:pPr>
            <a:r>
              <a:rPr lang="en-US" sz="1400" b="1" dirty="0">
                <a:solidFill>
                  <a:schemeClr val="bg1"/>
                </a:solidFill>
              </a:rPr>
              <a:t>A</a:t>
            </a:r>
            <a:endParaRPr lang="en-US" sz="1400" dirty="0"/>
          </a:p>
        </p:txBody>
      </p:sp>
      <p:sp>
        <p:nvSpPr>
          <p:cNvPr id="26" name="node "/>
          <p:cNvSpPr txBox="1"/>
          <p:nvPr/>
        </p:nvSpPr>
        <p:spPr>
          <a:xfrm>
            <a:off x="9144000" y="2880360"/>
            <a:ext cx="365760" cy="365760"/>
          </a:xfrm>
          <a:prstGeom prst="ellipse">
            <a:avLst/>
          </a:prstGeom>
          <a:solidFill>
            <a:schemeClr val="accent6"/>
          </a:solidFill>
          <a:ln w="12700">
            <a:solidFill>
              <a:schemeClr val="tx1"/>
            </a:solidFill>
          </a:ln>
        </p:spPr>
        <p:txBody>
          <a:bodyPr wrap="square" lIns="0" tIns="0" rIns="0" bIns="0" rtlCol="0" anchor="ctr"/>
          <a:lstStyle/>
          <a:p>
            <a:pPr algn="ctr" indent="0" marL="0">
              <a:buNone/>
            </a:pPr>
            <a:endParaRPr lang="en-US" sz="1400" dirty="0"/>
          </a:p>
        </p:txBody>
      </p:sp>
      <p:sp>
        <p:nvSpPr>
          <p:cNvPr id="27" name="node "/>
          <p:cNvSpPr txBox="1"/>
          <p:nvPr/>
        </p:nvSpPr>
        <p:spPr>
          <a:xfrm>
            <a:off x="10058400" y="2880360"/>
            <a:ext cx="365760" cy="365760"/>
          </a:xfrm>
          <a:prstGeom prst="ellipse">
            <a:avLst/>
          </a:prstGeom>
          <a:solidFill>
            <a:schemeClr val="accent6"/>
          </a:solidFill>
          <a:ln w="12700">
            <a:solidFill>
              <a:schemeClr val="tx1"/>
            </a:solidFill>
          </a:ln>
        </p:spPr>
        <p:txBody>
          <a:bodyPr wrap="square" lIns="0" tIns="0" rIns="0" bIns="0" rtlCol="0" anchor="ctr"/>
          <a:lstStyle/>
          <a:p>
            <a:pPr algn="ctr" indent="0" marL="0">
              <a:buNone/>
            </a:pPr>
            <a:endParaRPr lang="en-US" sz="1400" dirty="0"/>
          </a:p>
        </p:txBody>
      </p:sp>
      <p:sp>
        <p:nvSpPr>
          <p:cNvPr id="28" name="node D"/>
          <p:cNvSpPr txBox="1"/>
          <p:nvPr/>
        </p:nvSpPr>
        <p:spPr>
          <a:xfrm>
            <a:off x="10917936" y="2825496"/>
            <a:ext cx="475488" cy="475488"/>
          </a:xfrm>
          <a:prstGeom prst="ellipse">
            <a:avLst/>
          </a:prstGeom>
          <a:solidFill>
            <a:schemeClr val="accent2"/>
          </a:solidFill>
          <a:ln w="12700">
            <a:solidFill>
              <a:schemeClr val="tx1"/>
            </a:solidFill>
          </a:ln>
        </p:spPr>
        <p:txBody>
          <a:bodyPr wrap="square" lIns="0" tIns="0" rIns="0" bIns="0" rtlCol="0" anchor="ctr"/>
          <a:lstStyle/>
          <a:p>
            <a:pPr algn="ctr" indent="0" marL="0">
              <a:buNone/>
            </a:pPr>
            <a:r>
              <a:rPr lang="en-US" sz="1400" b="1" dirty="0">
                <a:solidFill>
                  <a:schemeClr val="bg1"/>
                </a:solidFill>
              </a:rPr>
              <a:t>D</a:t>
            </a:r>
            <a:endParaRPr lang="en-US" sz="1400" dirty="0"/>
          </a:p>
        </p:txBody>
      </p:sp>
      <p:sp>
        <p:nvSpPr>
          <p:cNvPr id="29" name="Text 27"/>
          <p:cNvSpPr txBox="1"/>
          <p:nvPr/>
        </p:nvSpPr>
        <p:spPr>
          <a:xfrm>
            <a:off x="8321040" y="3840480"/>
            <a:ext cx="3017520" cy="1097280"/>
          </a:xfrm>
          <a:prstGeom prst="rect">
            <a:avLst/>
          </a:prstGeom>
          <a:noFill/>
          <a:ln/>
        </p:spPr>
        <p:txBody>
          <a:bodyPr wrap="square" lIns="0" tIns="0" rIns="0" bIns="0" rtlCol="0" anchor="t"/>
          <a:lstStyle/>
          <a:p>
            <a:pPr indent="0" marL="0">
              <a:buNone/>
            </a:pPr>
            <a:r>
              <a:rPr lang="en-US" sz="1500" dirty="0">
                <a:solidFill>
                  <a:schemeClr val="tx2"/>
                </a:solidFill>
              </a:rPr>
              <a:t>Far enough that no receiver hears both.</a:t>
            </a:r>
            <a:endParaRPr lang="en-US" sz="1500" dirty="0"/>
          </a:p>
        </p:txBody>
      </p:sp>
      <p:sp>
        <p:nvSpPr>
          <p:cNvPr id="30" name="Text 28"/>
          <p:cNvSpPr txBox="1"/>
          <p:nvPr/>
        </p:nvSpPr>
        <p:spPr>
          <a:xfrm>
            <a:off x="8321040" y="5257800"/>
            <a:ext cx="3017520" cy="457200"/>
          </a:xfrm>
          <a:prstGeom prst="rect">
            <a:avLst/>
          </a:prstGeom>
          <a:noFill/>
          <a:ln/>
        </p:spPr>
        <p:txBody>
          <a:bodyPr wrap="square" lIns="0" tIns="0" rIns="0" bIns="0" rtlCol="0" anchor="ctr"/>
          <a:lstStyle/>
          <a:p>
            <a:pPr indent="0" marL="0">
              <a:buNone/>
            </a:pPr>
            <a:r>
              <a:rPr lang="en-US" sz="1800" b="1" dirty="0">
                <a:solidFill>
                  <a:schemeClr val="accent4"/>
                </a:solidFill>
              </a:rPr>
              <a:t>Same slot is safe</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lot chip"/>
          <p:cNvSpPr txBox="1"/>
          <p:nvPr/>
        </p:nvSpPr>
        <p:spPr>
          <a:xfrm>
            <a:off x="548640" y="347472"/>
            <a:ext cx="2651760" cy="292608"/>
          </a:xfrm>
          <a:prstGeom prst="roundRect">
            <a:avLst>
              <a:gd name="adj" fmla="val 25000"/>
            </a:avLst>
          </a:prstGeom>
          <a:solidFill>
            <a:schemeClr val="accent1"/>
          </a:solidFill>
          <a:ln/>
        </p:spPr>
        <p:txBody>
          <a:bodyPr wrap="square" lIns="0" tIns="0" rIns="0" bIns="0" rtlCol="0" anchor="ctr"/>
          <a:lstStyle/>
          <a:p>
            <a:pPr algn="ctr" indent="0" marL="0">
              <a:buNone/>
            </a:pPr>
            <a:r>
              <a:rPr lang="en-US" sz="1100" b="1" spc="100" kern="0" dirty="0">
                <a:solidFill>
                  <a:schemeClr val="tx1"/>
                </a:solidFill>
              </a:rPr>
              <a:t>SLOT 02  ·  KEY IDEA</a:t>
            </a:r>
            <a:endParaRPr lang="en-US" sz="1100" dirty="0"/>
          </a:p>
        </p:txBody>
      </p:sp>
      <p:sp>
        <p:nvSpPr>
          <p:cNvPr id="3" name="Text 0"/>
          <p:cNvSpPr/>
          <p:nvPr>
            <p:ph idx="100" type="title" hasCustomPrompt="1"/>
          </p:nvPr>
        </p:nvSpPr>
        <p:spPr>
          <a:xfrm>
            <a:off x="548640" y="749808"/>
            <a:ext cx="11064240" cy="731520"/>
          </a:xfrm>
          <a:prstGeom prst="rect">
            <a:avLst/>
          </a:prstGeom>
          <a:noFill/>
          <a:ln/>
        </p:spPr>
        <p:txBody>
          <a:bodyPr wrap="square" lIns="0" tIns="0" rIns="0" bIns="0" rtlCol="0" anchor="t"/>
          <a:lstStyle/>
          <a:p>
            <a:pPr algn="l" indent="0" marL="0">
              <a:buNone/>
            </a:pPr>
            <a:r>
              <a:rPr lang="en-US" sz="3400" b="1" dirty="0">
                <a:solidFill>
                  <a:schemeClr val="tx1"/>
                </a:solidFill>
              </a:rPr>
              <a:t>Turn "2 hops" into an ordinary colouring problem</a:t>
            </a:r>
            <a:endParaRPr lang="en-US" sz="3400" dirty="0"/>
          </a:p>
        </p:txBody>
      </p:sp>
      <p:sp>
        <p:nvSpPr>
          <p:cNvPr id="4" name="radio graph card"/>
          <p:cNvSpPr/>
          <p:nvPr/>
        </p:nvSpPr>
        <p:spPr>
          <a:xfrm>
            <a:off x="548640" y="1783080"/>
            <a:ext cx="5120640" cy="3291840"/>
          </a:xfrm>
          <a:prstGeom prst="roundRect">
            <a:avLst>
              <a:gd name="adj" fmla="val 3333"/>
            </a:avLst>
          </a:prstGeom>
          <a:solidFill>
            <a:schemeClr val="bg2"/>
          </a:solidFill>
          <a:ln w="12700">
            <a:solidFill>
              <a:schemeClr val="bg2"/>
            </a:solidFill>
            <a:prstDash val="solid"/>
          </a:ln>
        </p:spPr>
      </p:sp>
      <p:sp>
        <p:nvSpPr>
          <p:cNvPr id="5" name="conflict graph card"/>
          <p:cNvSpPr/>
          <p:nvPr/>
        </p:nvSpPr>
        <p:spPr>
          <a:xfrm>
            <a:off x="6492240" y="1783080"/>
            <a:ext cx="5120640" cy="3291840"/>
          </a:xfrm>
          <a:prstGeom prst="roundRect">
            <a:avLst>
              <a:gd name="adj" fmla="val 3333"/>
            </a:avLst>
          </a:prstGeom>
          <a:solidFill>
            <a:schemeClr val="bg2"/>
          </a:solidFill>
          <a:ln w="12700">
            <a:solidFill>
              <a:schemeClr val="bg2"/>
            </a:solidFill>
            <a:prstDash val="solid"/>
          </a:ln>
        </p:spPr>
      </p:sp>
      <p:sp>
        <p:nvSpPr>
          <p:cNvPr id="6" name="Text 4"/>
          <p:cNvSpPr txBox="1"/>
          <p:nvPr/>
        </p:nvSpPr>
        <p:spPr>
          <a:xfrm>
            <a:off x="822960" y="1920240"/>
            <a:ext cx="4572000" cy="411480"/>
          </a:xfrm>
          <a:prstGeom prst="rect">
            <a:avLst/>
          </a:prstGeom>
          <a:noFill/>
          <a:ln/>
        </p:spPr>
        <p:txBody>
          <a:bodyPr wrap="square" lIns="0" tIns="0" rIns="0" bIns="0" rtlCol="0" anchor="ctr"/>
          <a:lstStyle/>
          <a:p>
            <a:pPr indent="0" marL="0">
              <a:buNone/>
            </a:pPr>
            <a:r>
              <a:rPr lang="en-US" sz="1800" b="1" dirty="0">
                <a:solidFill>
                  <a:schemeClr val="tx1"/>
                </a:solidFill>
              </a:rPr>
              <a:t>Radio graph G</a:t>
            </a:r>
            <a:endParaRPr lang="en-US" sz="1800" dirty="0"/>
          </a:p>
        </p:txBody>
      </p:sp>
      <p:sp>
        <p:nvSpPr>
          <p:cNvPr id="7" name="Text 5"/>
          <p:cNvSpPr txBox="1"/>
          <p:nvPr/>
        </p:nvSpPr>
        <p:spPr>
          <a:xfrm>
            <a:off x="6766560" y="1920240"/>
            <a:ext cx="4572000" cy="411480"/>
          </a:xfrm>
          <a:prstGeom prst="rect">
            <a:avLst/>
          </a:prstGeom>
          <a:noFill/>
          <a:ln/>
        </p:spPr>
        <p:txBody>
          <a:bodyPr wrap="square" lIns="0" tIns="0" rIns="0" bIns="0" rtlCol="0" anchor="ctr"/>
          <a:lstStyle/>
          <a:p>
            <a:pPr indent="0" marL="0">
              <a:buNone/>
            </a:pPr>
            <a:r>
              <a:rPr lang="en-US" sz="1800" b="1" dirty="0">
                <a:solidFill>
                  <a:schemeClr val="tx1"/>
                </a:solidFill>
              </a:rPr>
              <a:t>Conflict graph G²</a:t>
            </a:r>
            <a:endParaRPr lang="en-US" sz="1800" dirty="0"/>
          </a:p>
        </p:txBody>
      </p:sp>
      <p:sp>
        <p:nvSpPr>
          <p:cNvPr id="8" name="link"/>
          <p:cNvSpPr/>
          <p:nvPr/>
        </p:nvSpPr>
        <p:spPr>
          <a:xfrm>
            <a:off x="1188720" y="3429000"/>
            <a:ext cx="1097280" cy="914"/>
          </a:xfrm>
          <a:prstGeom prst="line">
            <a:avLst/>
          </a:prstGeom>
          <a:noFill/>
          <a:ln w="25400">
            <a:solidFill>
              <a:schemeClr val="accent6"/>
            </a:solidFill>
            <a:prstDash val="solid"/>
          </a:ln>
        </p:spPr>
      </p:sp>
      <p:sp>
        <p:nvSpPr>
          <p:cNvPr id="9" name="link"/>
          <p:cNvSpPr/>
          <p:nvPr/>
        </p:nvSpPr>
        <p:spPr>
          <a:xfrm>
            <a:off x="2286000" y="3429000"/>
            <a:ext cx="1097280" cy="914"/>
          </a:xfrm>
          <a:prstGeom prst="line">
            <a:avLst/>
          </a:prstGeom>
          <a:noFill/>
          <a:ln w="25400">
            <a:solidFill>
              <a:schemeClr val="accent6"/>
            </a:solidFill>
            <a:prstDash val="solid"/>
          </a:ln>
        </p:spPr>
      </p:sp>
      <p:sp>
        <p:nvSpPr>
          <p:cNvPr id="10" name="link"/>
          <p:cNvSpPr/>
          <p:nvPr/>
        </p:nvSpPr>
        <p:spPr>
          <a:xfrm>
            <a:off x="3383280" y="3429000"/>
            <a:ext cx="1097280" cy="914"/>
          </a:xfrm>
          <a:prstGeom prst="line">
            <a:avLst/>
          </a:prstGeom>
          <a:noFill/>
          <a:ln w="25400">
            <a:solidFill>
              <a:schemeClr val="accent6"/>
            </a:solidFill>
            <a:prstDash val="solid"/>
          </a:ln>
        </p:spPr>
      </p:sp>
      <p:sp>
        <p:nvSpPr>
          <p:cNvPr id="11" name="node A"/>
          <p:cNvSpPr txBox="1"/>
          <p:nvPr/>
        </p:nvSpPr>
        <p:spPr>
          <a:xfrm>
            <a:off x="905256" y="3145536"/>
            <a:ext cx="566928" cy="566928"/>
          </a:xfrm>
          <a:prstGeom prst="ellipse">
            <a:avLst/>
          </a:prstGeom>
          <a:solidFill>
            <a:schemeClr val="accent2"/>
          </a:solidFill>
          <a:ln w="12700">
            <a:solidFill>
              <a:schemeClr val="tx1"/>
            </a:solidFill>
          </a:ln>
        </p:spPr>
        <p:txBody>
          <a:bodyPr wrap="square" lIns="0" tIns="0" rIns="0" bIns="0" rtlCol="0" anchor="ctr"/>
          <a:lstStyle/>
          <a:p>
            <a:pPr algn="ctr" indent="0" marL="0">
              <a:buNone/>
            </a:pPr>
            <a:r>
              <a:rPr lang="en-US" sz="1400" b="1" dirty="0">
                <a:solidFill>
                  <a:schemeClr val="bg1"/>
                </a:solidFill>
              </a:rPr>
              <a:t>A</a:t>
            </a:r>
            <a:endParaRPr lang="en-US" sz="1400" dirty="0"/>
          </a:p>
        </p:txBody>
      </p:sp>
      <p:sp>
        <p:nvSpPr>
          <p:cNvPr id="12" name="node B"/>
          <p:cNvSpPr txBox="1"/>
          <p:nvPr/>
        </p:nvSpPr>
        <p:spPr>
          <a:xfrm>
            <a:off x="2002536" y="3145536"/>
            <a:ext cx="566928" cy="566928"/>
          </a:xfrm>
          <a:prstGeom prst="ellipse">
            <a:avLst/>
          </a:prstGeom>
          <a:solidFill>
            <a:schemeClr val="accent2"/>
          </a:solidFill>
          <a:ln w="12700">
            <a:solidFill>
              <a:schemeClr val="tx1"/>
            </a:solidFill>
          </a:ln>
        </p:spPr>
        <p:txBody>
          <a:bodyPr wrap="square" lIns="0" tIns="0" rIns="0" bIns="0" rtlCol="0" anchor="ctr"/>
          <a:lstStyle/>
          <a:p>
            <a:pPr algn="ctr" indent="0" marL="0">
              <a:buNone/>
            </a:pPr>
            <a:r>
              <a:rPr lang="en-US" sz="1400" b="1" dirty="0">
                <a:solidFill>
                  <a:schemeClr val="bg1"/>
                </a:solidFill>
              </a:rPr>
              <a:t>B</a:t>
            </a:r>
            <a:endParaRPr lang="en-US" sz="1400" dirty="0"/>
          </a:p>
        </p:txBody>
      </p:sp>
      <p:sp>
        <p:nvSpPr>
          <p:cNvPr id="13" name="node C"/>
          <p:cNvSpPr txBox="1"/>
          <p:nvPr/>
        </p:nvSpPr>
        <p:spPr>
          <a:xfrm>
            <a:off x="3099816" y="3145536"/>
            <a:ext cx="566928" cy="566928"/>
          </a:xfrm>
          <a:prstGeom prst="ellipse">
            <a:avLst/>
          </a:prstGeom>
          <a:solidFill>
            <a:schemeClr val="accent2"/>
          </a:solidFill>
          <a:ln w="12700">
            <a:solidFill>
              <a:schemeClr val="tx1"/>
            </a:solidFill>
          </a:ln>
        </p:spPr>
        <p:txBody>
          <a:bodyPr wrap="square" lIns="0" tIns="0" rIns="0" bIns="0" rtlCol="0" anchor="ctr"/>
          <a:lstStyle/>
          <a:p>
            <a:pPr algn="ctr" indent="0" marL="0">
              <a:buNone/>
            </a:pPr>
            <a:r>
              <a:rPr lang="en-US" sz="1400" b="1" dirty="0">
                <a:solidFill>
                  <a:schemeClr val="bg1"/>
                </a:solidFill>
              </a:rPr>
              <a:t>C</a:t>
            </a:r>
            <a:endParaRPr lang="en-US" sz="1400" dirty="0"/>
          </a:p>
        </p:txBody>
      </p:sp>
      <p:sp>
        <p:nvSpPr>
          <p:cNvPr id="14" name="node D"/>
          <p:cNvSpPr txBox="1"/>
          <p:nvPr/>
        </p:nvSpPr>
        <p:spPr>
          <a:xfrm>
            <a:off x="4197096" y="3145536"/>
            <a:ext cx="566928" cy="566928"/>
          </a:xfrm>
          <a:prstGeom prst="ellipse">
            <a:avLst/>
          </a:prstGeom>
          <a:solidFill>
            <a:schemeClr val="accent2"/>
          </a:solidFill>
          <a:ln w="12700">
            <a:solidFill>
              <a:schemeClr val="tx1"/>
            </a:solidFill>
          </a:ln>
        </p:spPr>
        <p:txBody>
          <a:bodyPr wrap="square" lIns="0" tIns="0" rIns="0" bIns="0" rtlCol="0" anchor="ctr"/>
          <a:lstStyle/>
          <a:p>
            <a:pPr algn="ctr" indent="0" marL="0">
              <a:buNone/>
            </a:pPr>
            <a:r>
              <a:rPr lang="en-US" sz="1400" b="1" dirty="0">
                <a:solidFill>
                  <a:schemeClr val="bg1"/>
                </a:solidFill>
              </a:rPr>
              <a:t>D</a:t>
            </a:r>
            <a:endParaRPr lang="en-US" sz="1400" dirty="0"/>
          </a:p>
        </p:txBody>
      </p:sp>
      <p:sp>
        <p:nvSpPr>
          <p:cNvPr id="15" name="link"/>
          <p:cNvSpPr/>
          <p:nvPr/>
        </p:nvSpPr>
        <p:spPr>
          <a:xfrm>
            <a:off x="7132320" y="3429000"/>
            <a:ext cx="1097280" cy="914"/>
          </a:xfrm>
          <a:prstGeom prst="line">
            <a:avLst/>
          </a:prstGeom>
          <a:noFill/>
          <a:ln w="25400">
            <a:solidFill>
              <a:schemeClr val="accent6"/>
            </a:solidFill>
            <a:prstDash val="solid"/>
          </a:ln>
        </p:spPr>
      </p:sp>
      <p:sp>
        <p:nvSpPr>
          <p:cNvPr id="16" name="link"/>
          <p:cNvSpPr/>
          <p:nvPr/>
        </p:nvSpPr>
        <p:spPr>
          <a:xfrm>
            <a:off x="8229600" y="3429000"/>
            <a:ext cx="1097280" cy="914"/>
          </a:xfrm>
          <a:prstGeom prst="line">
            <a:avLst/>
          </a:prstGeom>
          <a:noFill/>
          <a:ln w="25400">
            <a:solidFill>
              <a:schemeClr val="accent6"/>
            </a:solidFill>
            <a:prstDash val="solid"/>
          </a:ln>
        </p:spPr>
      </p:sp>
      <p:sp>
        <p:nvSpPr>
          <p:cNvPr id="17" name="link"/>
          <p:cNvSpPr/>
          <p:nvPr/>
        </p:nvSpPr>
        <p:spPr>
          <a:xfrm>
            <a:off x="9326880" y="3429000"/>
            <a:ext cx="1097280" cy="914"/>
          </a:xfrm>
          <a:prstGeom prst="line">
            <a:avLst/>
          </a:prstGeom>
          <a:noFill/>
          <a:ln w="25400">
            <a:solidFill>
              <a:schemeClr val="accent6"/>
            </a:solidFill>
            <a:prstDash val="solid"/>
          </a:ln>
        </p:spPr>
      </p:sp>
      <p:sp>
        <p:nvSpPr>
          <p:cNvPr id="18" name="link"/>
          <p:cNvSpPr/>
          <p:nvPr/>
        </p:nvSpPr>
        <p:spPr>
          <a:xfrm flipV="1">
            <a:off x="7132320" y="2743200"/>
            <a:ext cx="1097280" cy="685800"/>
          </a:xfrm>
          <a:prstGeom prst="line">
            <a:avLst/>
          </a:prstGeom>
          <a:noFill/>
          <a:ln w="25400">
            <a:solidFill>
              <a:schemeClr val="accent3"/>
            </a:solidFill>
            <a:prstDash val="dash"/>
          </a:ln>
        </p:spPr>
      </p:sp>
      <p:sp>
        <p:nvSpPr>
          <p:cNvPr id="19" name="link"/>
          <p:cNvSpPr/>
          <p:nvPr/>
        </p:nvSpPr>
        <p:spPr>
          <a:xfrm>
            <a:off x="8229600" y="2743200"/>
            <a:ext cx="1097280" cy="685800"/>
          </a:xfrm>
          <a:prstGeom prst="line">
            <a:avLst/>
          </a:prstGeom>
          <a:noFill/>
          <a:ln w="25400">
            <a:solidFill>
              <a:schemeClr val="accent3"/>
            </a:solidFill>
            <a:prstDash val="dash"/>
          </a:ln>
        </p:spPr>
      </p:sp>
      <p:sp>
        <p:nvSpPr>
          <p:cNvPr id="20" name="link"/>
          <p:cNvSpPr/>
          <p:nvPr/>
        </p:nvSpPr>
        <p:spPr>
          <a:xfrm flipV="1">
            <a:off x="8229600" y="2423160"/>
            <a:ext cx="1097280" cy="1005840"/>
          </a:xfrm>
          <a:prstGeom prst="line">
            <a:avLst/>
          </a:prstGeom>
          <a:noFill/>
          <a:ln w="25400">
            <a:solidFill>
              <a:schemeClr val="accent3"/>
            </a:solidFill>
            <a:prstDash val="dash"/>
          </a:ln>
        </p:spPr>
      </p:sp>
      <p:sp>
        <p:nvSpPr>
          <p:cNvPr id="21" name="link"/>
          <p:cNvSpPr/>
          <p:nvPr/>
        </p:nvSpPr>
        <p:spPr>
          <a:xfrm>
            <a:off x="9326880" y="2423160"/>
            <a:ext cx="1097280" cy="1005840"/>
          </a:xfrm>
          <a:prstGeom prst="line">
            <a:avLst/>
          </a:prstGeom>
          <a:noFill/>
          <a:ln w="25400">
            <a:solidFill>
              <a:schemeClr val="accent3"/>
            </a:solidFill>
            <a:prstDash val="dash"/>
          </a:ln>
        </p:spPr>
      </p:sp>
      <p:sp>
        <p:nvSpPr>
          <p:cNvPr id="22" name="node A"/>
          <p:cNvSpPr txBox="1"/>
          <p:nvPr/>
        </p:nvSpPr>
        <p:spPr>
          <a:xfrm>
            <a:off x="6848856" y="3145536"/>
            <a:ext cx="566928" cy="566928"/>
          </a:xfrm>
          <a:prstGeom prst="ellipse">
            <a:avLst/>
          </a:prstGeom>
          <a:solidFill>
            <a:schemeClr val="accent2"/>
          </a:solidFill>
          <a:ln w="12700">
            <a:solidFill>
              <a:schemeClr val="tx1"/>
            </a:solidFill>
          </a:ln>
        </p:spPr>
        <p:txBody>
          <a:bodyPr wrap="square" lIns="0" tIns="0" rIns="0" bIns="0" rtlCol="0" anchor="ctr"/>
          <a:lstStyle/>
          <a:p>
            <a:pPr algn="ctr" indent="0" marL="0">
              <a:buNone/>
            </a:pPr>
            <a:r>
              <a:rPr lang="en-US" sz="1400" b="1" dirty="0">
                <a:solidFill>
                  <a:schemeClr val="bg1"/>
                </a:solidFill>
              </a:rPr>
              <a:t>A</a:t>
            </a:r>
            <a:endParaRPr lang="en-US" sz="1400" dirty="0"/>
          </a:p>
        </p:txBody>
      </p:sp>
      <p:sp>
        <p:nvSpPr>
          <p:cNvPr id="23" name="node B"/>
          <p:cNvSpPr txBox="1"/>
          <p:nvPr/>
        </p:nvSpPr>
        <p:spPr>
          <a:xfrm>
            <a:off x="7946136" y="3145536"/>
            <a:ext cx="566928" cy="566928"/>
          </a:xfrm>
          <a:prstGeom prst="ellipse">
            <a:avLst/>
          </a:prstGeom>
          <a:solidFill>
            <a:schemeClr val="accent2"/>
          </a:solidFill>
          <a:ln w="12700">
            <a:solidFill>
              <a:schemeClr val="tx1"/>
            </a:solidFill>
          </a:ln>
        </p:spPr>
        <p:txBody>
          <a:bodyPr wrap="square" lIns="0" tIns="0" rIns="0" bIns="0" rtlCol="0" anchor="ctr"/>
          <a:lstStyle/>
          <a:p>
            <a:pPr algn="ctr" indent="0" marL="0">
              <a:buNone/>
            </a:pPr>
            <a:r>
              <a:rPr lang="en-US" sz="1400" b="1" dirty="0">
                <a:solidFill>
                  <a:schemeClr val="bg1"/>
                </a:solidFill>
              </a:rPr>
              <a:t>B</a:t>
            </a:r>
            <a:endParaRPr lang="en-US" sz="1400" dirty="0"/>
          </a:p>
        </p:txBody>
      </p:sp>
      <p:sp>
        <p:nvSpPr>
          <p:cNvPr id="24" name="node C"/>
          <p:cNvSpPr txBox="1"/>
          <p:nvPr/>
        </p:nvSpPr>
        <p:spPr>
          <a:xfrm>
            <a:off x="9043416" y="3145536"/>
            <a:ext cx="566928" cy="566928"/>
          </a:xfrm>
          <a:prstGeom prst="ellipse">
            <a:avLst/>
          </a:prstGeom>
          <a:solidFill>
            <a:schemeClr val="accent2"/>
          </a:solidFill>
          <a:ln w="12700">
            <a:solidFill>
              <a:schemeClr val="tx1"/>
            </a:solidFill>
          </a:ln>
        </p:spPr>
        <p:txBody>
          <a:bodyPr wrap="square" lIns="0" tIns="0" rIns="0" bIns="0" rtlCol="0" anchor="ctr"/>
          <a:lstStyle/>
          <a:p>
            <a:pPr algn="ctr" indent="0" marL="0">
              <a:buNone/>
            </a:pPr>
            <a:r>
              <a:rPr lang="en-US" sz="1400" b="1" dirty="0">
                <a:solidFill>
                  <a:schemeClr val="bg1"/>
                </a:solidFill>
              </a:rPr>
              <a:t>C</a:t>
            </a:r>
            <a:endParaRPr lang="en-US" sz="1400" dirty="0"/>
          </a:p>
        </p:txBody>
      </p:sp>
      <p:sp>
        <p:nvSpPr>
          <p:cNvPr id="25" name="node D"/>
          <p:cNvSpPr txBox="1"/>
          <p:nvPr/>
        </p:nvSpPr>
        <p:spPr>
          <a:xfrm>
            <a:off x="10140696" y="3145536"/>
            <a:ext cx="566928" cy="566928"/>
          </a:xfrm>
          <a:prstGeom prst="ellipse">
            <a:avLst/>
          </a:prstGeom>
          <a:solidFill>
            <a:schemeClr val="accent2"/>
          </a:solidFill>
          <a:ln w="12700">
            <a:solidFill>
              <a:schemeClr val="tx1"/>
            </a:solidFill>
          </a:ln>
        </p:spPr>
        <p:txBody>
          <a:bodyPr wrap="square" lIns="0" tIns="0" rIns="0" bIns="0" rtlCol="0" anchor="ctr"/>
          <a:lstStyle/>
          <a:p>
            <a:pPr algn="ctr" indent="0" marL="0">
              <a:buNone/>
            </a:pPr>
            <a:r>
              <a:rPr lang="en-US" sz="1400" b="1" dirty="0">
                <a:solidFill>
                  <a:schemeClr val="bg1"/>
                </a:solidFill>
              </a:rPr>
              <a:t>D</a:t>
            </a:r>
            <a:endParaRPr lang="en-US" sz="1400" dirty="0"/>
          </a:p>
        </p:txBody>
      </p:sp>
      <p:sp>
        <p:nvSpPr>
          <p:cNvPr id="26" name="Text 24"/>
          <p:cNvSpPr txBox="1"/>
          <p:nvPr/>
        </p:nvSpPr>
        <p:spPr>
          <a:xfrm>
            <a:off x="822960" y="4206240"/>
            <a:ext cx="4572000" cy="365760"/>
          </a:xfrm>
          <a:prstGeom prst="rect">
            <a:avLst/>
          </a:prstGeom>
          <a:noFill/>
          <a:ln/>
        </p:spPr>
        <p:txBody>
          <a:bodyPr wrap="square" lIns="0" tIns="0" rIns="0" bIns="0" rtlCol="0" anchor="ctr"/>
          <a:lstStyle/>
          <a:p>
            <a:pPr indent="0" marL="0">
              <a:buNone/>
            </a:pPr>
            <a:r>
              <a:rPr lang="en-US" sz="1400" dirty="0">
                <a:solidFill>
                  <a:schemeClr val="tx2"/>
                </a:solidFill>
              </a:rPr>
              <a:t>an edge = within 500 m</a:t>
            </a:r>
            <a:endParaRPr lang="en-US" sz="1400" dirty="0"/>
          </a:p>
        </p:txBody>
      </p:sp>
      <p:sp>
        <p:nvSpPr>
          <p:cNvPr id="27" name="Text 25"/>
          <p:cNvSpPr txBox="1"/>
          <p:nvPr/>
        </p:nvSpPr>
        <p:spPr>
          <a:xfrm>
            <a:off x="6766560" y="4206240"/>
            <a:ext cx="4663440" cy="640080"/>
          </a:xfrm>
          <a:prstGeom prst="rect">
            <a:avLst/>
          </a:prstGeom>
          <a:noFill/>
          <a:ln/>
        </p:spPr>
        <p:txBody>
          <a:bodyPr wrap="square" lIns="0" tIns="0" rIns="0" bIns="0" rtlCol="0" anchor="ctr"/>
          <a:lstStyle/>
          <a:p>
            <a:pPr indent="0" marL="0">
              <a:buNone/>
            </a:pPr>
            <a:r>
              <a:rPr lang="en-US" sz="1400" dirty="0">
                <a:solidFill>
                  <a:schemeClr val="tx2"/>
                </a:solidFill>
              </a:rPr>
              <a:t>an edge = must NOT share a slot (red = added 2-hop pairs)</a:t>
            </a:r>
            <a:endParaRPr lang="en-US" sz="1400" dirty="0"/>
          </a:p>
        </p:txBody>
      </p:sp>
      <p:sp>
        <p:nvSpPr>
          <p:cNvPr id="28" name="Text 26"/>
          <p:cNvSpPr txBox="1"/>
          <p:nvPr/>
        </p:nvSpPr>
        <p:spPr>
          <a:xfrm>
            <a:off x="5715000" y="3017520"/>
            <a:ext cx="731520" cy="731520"/>
          </a:xfrm>
          <a:prstGeom prst="rect">
            <a:avLst/>
          </a:prstGeom>
          <a:noFill/>
          <a:ln/>
        </p:spPr>
        <p:txBody>
          <a:bodyPr wrap="square" lIns="0" tIns="0" rIns="0" bIns="0" rtlCol="0" anchor="ctr"/>
          <a:lstStyle/>
          <a:p>
            <a:pPr algn="ctr" indent="0" marL="0">
              <a:buNone/>
            </a:pPr>
            <a:r>
              <a:rPr lang="en-US" sz="4000" b="1" dirty="0">
                <a:solidFill>
                  <a:schemeClr val="accent1"/>
                </a:solidFill>
              </a:rPr>
              <a:t>→</a:t>
            </a:r>
            <a:endParaRPr lang="en-US" sz="4000" dirty="0"/>
          </a:p>
        </p:txBody>
      </p:sp>
      <p:sp>
        <p:nvSpPr>
          <p:cNvPr id="29" name="Text 27"/>
          <p:cNvSpPr txBox="1"/>
          <p:nvPr/>
        </p:nvSpPr>
        <p:spPr>
          <a:xfrm>
            <a:off x="548640" y="5349240"/>
            <a:ext cx="11064240" cy="822960"/>
          </a:xfrm>
          <a:prstGeom prst="rect">
            <a:avLst/>
          </a:prstGeom>
          <a:noFill/>
          <a:ln/>
        </p:spPr>
        <p:txBody>
          <a:bodyPr wrap="square" lIns="0" tIns="0" rIns="0" bIns="0" rtlCol="0" anchor="t"/>
          <a:lstStyle/>
          <a:p>
            <a:pPr indent="0" marL="0">
              <a:spcAft>
                <a:spcPts val="800"/>
              </a:spcAft>
              <a:buNone/>
            </a:pPr>
            <a:r>
              <a:rPr lang="en-US" sz="1700" b="1" dirty="0">
                <a:solidFill>
                  <a:schemeClr val="tx1"/>
                </a:solidFill>
              </a:rPr>
              <a:t>Distance-2 colouring of G  =  ordinary colouring of G². </a:t>
            </a:r>
            <a:pPr indent="0" marL="0">
              <a:spcAft>
                <a:spcPts val="800"/>
              </a:spcAft>
              <a:buNone/>
            </a:pPr>
            <a:r>
              <a:rPr lang="en-US" sz="1700" dirty="0">
                <a:solidFill>
                  <a:schemeClr val="tx1"/>
                </a:solidFill>
              </a:rPr>
              <a:t>Build it once: for every radio B, join B's neighbours to each other, since any two of them would collide at B.</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lot chip"/>
          <p:cNvSpPr txBox="1"/>
          <p:nvPr/>
        </p:nvSpPr>
        <p:spPr>
          <a:xfrm>
            <a:off x="548640" y="347472"/>
            <a:ext cx="3749040" cy="292608"/>
          </a:xfrm>
          <a:prstGeom prst="roundRect">
            <a:avLst>
              <a:gd name="adj" fmla="val 25000"/>
            </a:avLst>
          </a:prstGeom>
          <a:solidFill>
            <a:schemeClr val="accent1"/>
          </a:solidFill>
          <a:ln/>
        </p:spPr>
        <p:txBody>
          <a:bodyPr wrap="square" lIns="0" tIns="0" rIns="0" bIns="0" rtlCol="0" anchor="ctr"/>
          <a:lstStyle/>
          <a:p>
            <a:pPr algn="ctr" indent="0" marL="0">
              <a:buNone/>
            </a:pPr>
            <a:r>
              <a:rPr lang="en-US" sz="1100" b="1" spc="100" kern="0" dirty="0">
                <a:solidFill>
                  <a:schemeClr val="tx1"/>
                </a:solidFill>
              </a:rPr>
              <a:t>SLOT 03  ·  PART 1 · THE BRAIN</a:t>
            </a:r>
            <a:endParaRPr lang="en-US" sz="1100" dirty="0"/>
          </a:p>
        </p:txBody>
      </p:sp>
      <p:sp>
        <p:nvSpPr>
          <p:cNvPr id="3" name="Text 0"/>
          <p:cNvSpPr/>
          <p:nvPr>
            <p:ph idx="100" type="title" hasCustomPrompt="1"/>
          </p:nvPr>
        </p:nvSpPr>
        <p:spPr>
          <a:xfrm>
            <a:off x="548640" y="749808"/>
            <a:ext cx="11064240" cy="731520"/>
          </a:xfrm>
          <a:prstGeom prst="rect">
            <a:avLst/>
          </a:prstGeom>
          <a:noFill/>
          <a:ln/>
        </p:spPr>
        <p:txBody>
          <a:bodyPr wrap="square" lIns="0" tIns="0" rIns="0" bIns="0" rtlCol="0" anchor="t"/>
          <a:lstStyle/>
          <a:p>
            <a:pPr algn="l" indent="0" marL="0">
              <a:buNone/>
            </a:pPr>
            <a:r>
              <a:rPr lang="en-US" sz="3400" b="1" dirty="0">
                <a:solidFill>
                  <a:schemeClr val="tx1"/>
                </a:solidFill>
              </a:rPr>
              <a:t>Five steps from coordinates to a checked schedule</a:t>
            </a:r>
            <a:endParaRPr lang="en-US" sz="3400" dirty="0"/>
          </a:p>
        </p:txBody>
      </p:sp>
      <p:sp>
        <p:nvSpPr>
          <p:cNvPr id="4" name="step 1"/>
          <p:cNvSpPr/>
          <p:nvPr/>
        </p:nvSpPr>
        <p:spPr>
          <a:xfrm>
            <a:off x="548640" y="2011680"/>
            <a:ext cx="2057400" cy="3108960"/>
          </a:xfrm>
          <a:prstGeom prst="roundRect">
            <a:avLst>
              <a:gd name="adj" fmla="val 5333"/>
            </a:avLst>
          </a:prstGeom>
          <a:solidFill>
            <a:schemeClr val="bg2"/>
          </a:solidFill>
          <a:ln w="12700">
            <a:solidFill>
              <a:schemeClr val="bg2"/>
            </a:solidFill>
            <a:prstDash val="solid"/>
          </a:ln>
        </p:spPr>
      </p:sp>
      <p:sp>
        <p:nvSpPr>
          <p:cNvPr id="5" name="Text 3"/>
          <p:cNvSpPr txBox="1"/>
          <p:nvPr/>
        </p:nvSpPr>
        <p:spPr>
          <a:xfrm>
            <a:off x="777240" y="2240280"/>
            <a:ext cx="548640" cy="54864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tx1"/>
                </a:solidFill>
              </a:rPr>
              <a:t>1</a:t>
            </a:r>
            <a:endParaRPr lang="en-US" sz="1800" dirty="0"/>
          </a:p>
        </p:txBody>
      </p:sp>
      <p:sp>
        <p:nvSpPr>
          <p:cNvPr id="6" name="Text 4"/>
          <p:cNvSpPr txBox="1"/>
          <p:nvPr/>
        </p:nvSpPr>
        <p:spPr>
          <a:xfrm>
            <a:off x="777240" y="2971800"/>
            <a:ext cx="1691640" cy="457200"/>
          </a:xfrm>
          <a:prstGeom prst="rect">
            <a:avLst/>
          </a:prstGeom>
          <a:noFill/>
          <a:ln/>
        </p:spPr>
        <p:txBody>
          <a:bodyPr wrap="square" lIns="0" tIns="0" rIns="0" bIns="0" rtlCol="0" anchor="ctr"/>
          <a:lstStyle/>
          <a:p>
            <a:pPr indent="0" marL="0">
              <a:buNone/>
            </a:pPr>
            <a:r>
              <a:rPr lang="en-US" sz="1800" b="1" dirty="0">
                <a:solidFill>
                  <a:schemeClr val="tx1"/>
                </a:solidFill>
              </a:rPr>
              <a:t>Build graphs</a:t>
            </a:r>
            <a:endParaRPr lang="en-US" sz="1800" dirty="0"/>
          </a:p>
        </p:txBody>
      </p:sp>
      <p:sp>
        <p:nvSpPr>
          <p:cNvPr id="7" name="Text 5"/>
          <p:cNvSpPr txBox="1"/>
          <p:nvPr/>
        </p:nvSpPr>
        <p:spPr>
          <a:xfrm>
            <a:off x="777240" y="3474720"/>
            <a:ext cx="1691640" cy="1554480"/>
          </a:xfrm>
          <a:prstGeom prst="rect">
            <a:avLst/>
          </a:prstGeom>
          <a:noFill/>
          <a:ln/>
        </p:spPr>
        <p:txBody>
          <a:bodyPr wrap="square" lIns="0" tIns="0" rIns="0" bIns="0" rtlCol="0" anchor="t"/>
          <a:lstStyle/>
          <a:p>
            <a:pPr indent="0" marL="0">
              <a:buNone/>
            </a:pPr>
            <a:r>
              <a:rPr lang="en-US" sz="1400" dirty="0">
                <a:solidFill>
                  <a:schemeClr val="tx2"/>
                </a:solidFill>
              </a:rPr>
              <a:t>Radio graph (≤ 500 m) and conflict graph G²</a:t>
            </a:r>
            <a:endParaRPr lang="en-US" sz="1400" dirty="0"/>
          </a:p>
        </p:txBody>
      </p:sp>
      <p:sp>
        <p:nvSpPr>
          <p:cNvPr id="8" name="step 2"/>
          <p:cNvSpPr/>
          <p:nvPr/>
        </p:nvSpPr>
        <p:spPr>
          <a:xfrm>
            <a:off x="2816352" y="2011680"/>
            <a:ext cx="2057400" cy="3108960"/>
          </a:xfrm>
          <a:prstGeom prst="roundRect">
            <a:avLst>
              <a:gd name="adj" fmla="val 5333"/>
            </a:avLst>
          </a:prstGeom>
          <a:solidFill>
            <a:schemeClr val="bg2"/>
          </a:solidFill>
          <a:ln w="12700">
            <a:solidFill>
              <a:schemeClr val="bg2"/>
            </a:solidFill>
            <a:prstDash val="solid"/>
          </a:ln>
        </p:spPr>
      </p:sp>
      <p:sp>
        <p:nvSpPr>
          <p:cNvPr id="9" name="Text 7"/>
          <p:cNvSpPr txBox="1"/>
          <p:nvPr/>
        </p:nvSpPr>
        <p:spPr>
          <a:xfrm>
            <a:off x="3044952" y="2240280"/>
            <a:ext cx="548640" cy="54864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tx1"/>
                </a:solidFill>
              </a:rPr>
              <a:t>2</a:t>
            </a:r>
            <a:endParaRPr lang="en-US" sz="1800" dirty="0"/>
          </a:p>
        </p:txBody>
      </p:sp>
      <p:sp>
        <p:nvSpPr>
          <p:cNvPr id="10" name="Text 8"/>
          <p:cNvSpPr txBox="1"/>
          <p:nvPr/>
        </p:nvSpPr>
        <p:spPr>
          <a:xfrm>
            <a:off x="3044952" y="2971800"/>
            <a:ext cx="1691640" cy="457200"/>
          </a:xfrm>
          <a:prstGeom prst="rect">
            <a:avLst/>
          </a:prstGeom>
          <a:noFill/>
          <a:ln/>
        </p:spPr>
        <p:txBody>
          <a:bodyPr wrap="square" lIns="0" tIns="0" rIns="0" bIns="0" rtlCol="0" anchor="ctr"/>
          <a:lstStyle/>
          <a:p>
            <a:pPr indent="0" marL="0">
              <a:buNone/>
            </a:pPr>
            <a:r>
              <a:rPr lang="en-US" sz="1800" b="1" dirty="0">
                <a:solidFill>
                  <a:schemeClr val="tx1"/>
                </a:solidFill>
              </a:rPr>
              <a:t>3 heuristics</a:t>
            </a:r>
            <a:endParaRPr lang="en-US" sz="1800" dirty="0"/>
          </a:p>
        </p:txBody>
      </p:sp>
      <p:sp>
        <p:nvSpPr>
          <p:cNvPr id="11" name="Text 9"/>
          <p:cNvSpPr txBox="1"/>
          <p:nvPr/>
        </p:nvSpPr>
        <p:spPr>
          <a:xfrm>
            <a:off x="3044952" y="3474720"/>
            <a:ext cx="1691640" cy="1554480"/>
          </a:xfrm>
          <a:prstGeom prst="rect">
            <a:avLst/>
          </a:prstGeom>
          <a:noFill/>
          <a:ln/>
        </p:spPr>
        <p:txBody>
          <a:bodyPr wrap="square" lIns="0" tIns="0" rIns="0" bIns="0" rtlCol="0" anchor="t"/>
          <a:lstStyle/>
          <a:p>
            <a:pPr indent="0" marL="0">
              <a:buNone/>
            </a:pPr>
            <a:r>
              <a:rPr lang="en-US" sz="1400" dirty="0">
                <a:solidFill>
                  <a:schemeClr val="tx2"/>
                </a:solidFill>
              </a:rPr>
              <a:t>Largest-First, Smallest-Last, DSATUR. Keep the best</a:t>
            </a:r>
            <a:endParaRPr lang="en-US" sz="1400" dirty="0"/>
          </a:p>
        </p:txBody>
      </p:sp>
      <p:sp>
        <p:nvSpPr>
          <p:cNvPr id="12" name="step 3"/>
          <p:cNvSpPr/>
          <p:nvPr/>
        </p:nvSpPr>
        <p:spPr>
          <a:xfrm>
            <a:off x="5084064" y="2011680"/>
            <a:ext cx="2057400" cy="3108960"/>
          </a:xfrm>
          <a:prstGeom prst="roundRect">
            <a:avLst>
              <a:gd name="adj" fmla="val 5333"/>
            </a:avLst>
          </a:prstGeom>
          <a:solidFill>
            <a:schemeClr val="bg2"/>
          </a:solidFill>
          <a:ln w="12700">
            <a:solidFill>
              <a:schemeClr val="bg2"/>
            </a:solidFill>
            <a:prstDash val="solid"/>
          </a:ln>
        </p:spPr>
      </p:sp>
      <p:sp>
        <p:nvSpPr>
          <p:cNvPr id="13" name="Text 11"/>
          <p:cNvSpPr txBox="1"/>
          <p:nvPr/>
        </p:nvSpPr>
        <p:spPr>
          <a:xfrm>
            <a:off x="5312664" y="2240280"/>
            <a:ext cx="548640" cy="54864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tx1"/>
                </a:solidFill>
              </a:rPr>
              <a:t>3</a:t>
            </a:r>
            <a:endParaRPr lang="en-US" sz="1800" dirty="0"/>
          </a:p>
        </p:txBody>
      </p:sp>
      <p:sp>
        <p:nvSpPr>
          <p:cNvPr id="14" name="Text 12"/>
          <p:cNvSpPr txBox="1"/>
          <p:nvPr/>
        </p:nvSpPr>
        <p:spPr>
          <a:xfrm>
            <a:off x="5312664" y="2971800"/>
            <a:ext cx="1691640" cy="457200"/>
          </a:xfrm>
          <a:prstGeom prst="rect">
            <a:avLst/>
          </a:prstGeom>
          <a:noFill/>
          <a:ln/>
        </p:spPr>
        <p:txBody>
          <a:bodyPr wrap="square" lIns="0" tIns="0" rIns="0" bIns="0" rtlCol="0" anchor="ctr"/>
          <a:lstStyle/>
          <a:p>
            <a:pPr indent="0" marL="0">
              <a:buNone/>
            </a:pPr>
            <a:r>
              <a:rPr lang="en-US" sz="1800" b="1" dirty="0">
                <a:solidFill>
                  <a:schemeClr val="tx1"/>
                </a:solidFill>
              </a:rPr>
              <a:t>Improve</a:t>
            </a:r>
            <a:endParaRPr lang="en-US" sz="1800" dirty="0"/>
          </a:p>
        </p:txBody>
      </p:sp>
      <p:sp>
        <p:nvSpPr>
          <p:cNvPr id="15" name="Text 13"/>
          <p:cNvSpPr txBox="1"/>
          <p:nvPr/>
        </p:nvSpPr>
        <p:spPr>
          <a:xfrm>
            <a:off x="5312664" y="3474720"/>
            <a:ext cx="1691640" cy="1554480"/>
          </a:xfrm>
          <a:prstGeom prst="rect">
            <a:avLst/>
          </a:prstGeom>
          <a:noFill/>
          <a:ln/>
        </p:spPr>
        <p:txBody>
          <a:bodyPr wrap="square" lIns="0" tIns="0" rIns="0" bIns="0" rtlCol="0" anchor="t"/>
          <a:lstStyle/>
          <a:p>
            <a:pPr indent="0" marL="0">
              <a:buNone/>
            </a:pPr>
            <a:r>
              <a:rPr lang="en-US" sz="1400" dirty="0">
                <a:solidFill>
                  <a:schemeClr val="tx2"/>
                </a:solidFill>
              </a:rPr>
              <a:t>Iterated greedy, 300 rounds. Never gets worse</a:t>
            </a:r>
            <a:endParaRPr lang="en-US" sz="1400" dirty="0"/>
          </a:p>
        </p:txBody>
      </p:sp>
      <p:sp>
        <p:nvSpPr>
          <p:cNvPr id="16" name="step 4"/>
          <p:cNvSpPr/>
          <p:nvPr/>
        </p:nvSpPr>
        <p:spPr>
          <a:xfrm>
            <a:off x="7351776" y="2011680"/>
            <a:ext cx="2057400" cy="3108960"/>
          </a:xfrm>
          <a:prstGeom prst="roundRect">
            <a:avLst>
              <a:gd name="adj" fmla="val 5333"/>
            </a:avLst>
          </a:prstGeom>
          <a:solidFill>
            <a:schemeClr val="bg2"/>
          </a:solidFill>
          <a:ln w="12700">
            <a:solidFill>
              <a:schemeClr val="bg2"/>
            </a:solidFill>
            <a:prstDash val="solid"/>
          </a:ln>
        </p:spPr>
      </p:sp>
      <p:sp>
        <p:nvSpPr>
          <p:cNvPr id="17" name="Text 15"/>
          <p:cNvSpPr txBox="1"/>
          <p:nvPr/>
        </p:nvSpPr>
        <p:spPr>
          <a:xfrm>
            <a:off x="7580376" y="2240280"/>
            <a:ext cx="548640" cy="54864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tx1"/>
                </a:solidFill>
              </a:rPr>
              <a:t>4</a:t>
            </a:r>
            <a:endParaRPr lang="en-US" sz="1800" dirty="0"/>
          </a:p>
        </p:txBody>
      </p:sp>
      <p:sp>
        <p:nvSpPr>
          <p:cNvPr id="18" name="Text 16"/>
          <p:cNvSpPr txBox="1"/>
          <p:nvPr/>
        </p:nvSpPr>
        <p:spPr>
          <a:xfrm>
            <a:off x="7580376" y="2971800"/>
            <a:ext cx="1691640" cy="457200"/>
          </a:xfrm>
          <a:prstGeom prst="rect">
            <a:avLst/>
          </a:prstGeom>
          <a:noFill/>
          <a:ln/>
        </p:spPr>
        <p:txBody>
          <a:bodyPr wrap="square" lIns="0" tIns="0" rIns="0" bIns="0" rtlCol="0" anchor="ctr"/>
          <a:lstStyle/>
          <a:p>
            <a:pPr indent="0" marL="0">
              <a:buNone/>
            </a:pPr>
            <a:r>
              <a:rPr lang="en-US" sz="1800" b="1" dirty="0">
                <a:solidFill>
                  <a:schemeClr val="tx1"/>
                </a:solidFill>
              </a:rPr>
              <a:t>Prove</a:t>
            </a:r>
            <a:endParaRPr lang="en-US" sz="1800" dirty="0"/>
          </a:p>
        </p:txBody>
      </p:sp>
      <p:sp>
        <p:nvSpPr>
          <p:cNvPr id="19" name="Text 17"/>
          <p:cNvSpPr txBox="1"/>
          <p:nvPr/>
        </p:nvSpPr>
        <p:spPr>
          <a:xfrm>
            <a:off x="7580376" y="3474720"/>
            <a:ext cx="1691640" cy="1554480"/>
          </a:xfrm>
          <a:prstGeom prst="rect">
            <a:avLst/>
          </a:prstGeom>
          <a:noFill/>
          <a:ln/>
        </p:spPr>
        <p:txBody>
          <a:bodyPr wrap="square" lIns="0" tIns="0" rIns="0" bIns="0" rtlCol="0" anchor="t"/>
          <a:lstStyle/>
          <a:p>
            <a:pPr indent="0" marL="0">
              <a:buNone/>
            </a:pPr>
            <a:r>
              <a:rPr lang="en-US" sz="1400" dirty="0">
                <a:solidFill>
                  <a:schemeClr val="tx2"/>
                </a:solidFill>
              </a:rPr>
              <a:t>Lower bound + exact search: is fewer possible?</a:t>
            </a:r>
            <a:endParaRPr lang="en-US" sz="1400" dirty="0"/>
          </a:p>
        </p:txBody>
      </p:sp>
      <p:sp>
        <p:nvSpPr>
          <p:cNvPr id="20" name="step 5"/>
          <p:cNvSpPr/>
          <p:nvPr/>
        </p:nvSpPr>
        <p:spPr>
          <a:xfrm>
            <a:off x="9619488" y="2011680"/>
            <a:ext cx="2057400" cy="3108960"/>
          </a:xfrm>
          <a:prstGeom prst="roundRect">
            <a:avLst>
              <a:gd name="adj" fmla="val 5333"/>
            </a:avLst>
          </a:prstGeom>
          <a:solidFill>
            <a:schemeClr val="bg2"/>
          </a:solidFill>
          <a:ln w="12700">
            <a:solidFill>
              <a:schemeClr val="bg2"/>
            </a:solidFill>
            <a:prstDash val="solid"/>
          </a:ln>
        </p:spPr>
      </p:sp>
      <p:sp>
        <p:nvSpPr>
          <p:cNvPr id="21" name="Text 19"/>
          <p:cNvSpPr txBox="1"/>
          <p:nvPr/>
        </p:nvSpPr>
        <p:spPr>
          <a:xfrm>
            <a:off x="9848088" y="2240280"/>
            <a:ext cx="548640" cy="54864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tx1"/>
                </a:solidFill>
              </a:rPr>
              <a:t>5</a:t>
            </a:r>
            <a:endParaRPr lang="en-US" sz="1800" dirty="0"/>
          </a:p>
        </p:txBody>
      </p:sp>
      <p:sp>
        <p:nvSpPr>
          <p:cNvPr id="22" name="Text 20"/>
          <p:cNvSpPr txBox="1"/>
          <p:nvPr/>
        </p:nvSpPr>
        <p:spPr>
          <a:xfrm>
            <a:off x="9848088" y="2971800"/>
            <a:ext cx="1691640" cy="457200"/>
          </a:xfrm>
          <a:prstGeom prst="rect">
            <a:avLst/>
          </a:prstGeom>
          <a:noFill/>
          <a:ln/>
        </p:spPr>
        <p:txBody>
          <a:bodyPr wrap="square" lIns="0" tIns="0" rIns="0" bIns="0" rtlCol="0" anchor="ctr"/>
          <a:lstStyle/>
          <a:p>
            <a:pPr indent="0" marL="0">
              <a:buNone/>
            </a:pPr>
            <a:r>
              <a:rPr lang="en-US" sz="1800" b="1" dirty="0">
                <a:solidFill>
                  <a:schemeClr val="tx1"/>
                </a:solidFill>
              </a:rPr>
              <a:t>Verify</a:t>
            </a:r>
            <a:endParaRPr lang="en-US" sz="1800" dirty="0"/>
          </a:p>
        </p:txBody>
      </p:sp>
      <p:sp>
        <p:nvSpPr>
          <p:cNvPr id="23" name="Text 21"/>
          <p:cNvSpPr txBox="1"/>
          <p:nvPr/>
        </p:nvSpPr>
        <p:spPr>
          <a:xfrm>
            <a:off x="9848088" y="3474720"/>
            <a:ext cx="1691640" cy="1554480"/>
          </a:xfrm>
          <a:prstGeom prst="rect">
            <a:avLst/>
          </a:prstGeom>
          <a:noFill/>
          <a:ln/>
        </p:spPr>
        <p:txBody>
          <a:bodyPr wrap="square" lIns="0" tIns="0" rIns="0" bIns="0" rtlCol="0" anchor="t"/>
          <a:lstStyle/>
          <a:p>
            <a:pPr indent="0" marL="0">
              <a:buNone/>
            </a:pPr>
            <a:r>
              <a:rPr lang="en-US" sz="1400" dirty="0">
                <a:solidFill>
                  <a:schemeClr val="tx2"/>
                </a:solidFill>
              </a:rPr>
              <a:t>Independent hop-distance check, then report</a:t>
            </a:r>
            <a:endParaRPr lang="en-US" sz="1400" dirty="0"/>
          </a:p>
        </p:txBody>
      </p:sp>
      <p:sp>
        <p:nvSpPr>
          <p:cNvPr id="24" name="Text 22"/>
          <p:cNvSpPr txBox="1"/>
          <p:nvPr/>
        </p:nvSpPr>
        <p:spPr>
          <a:xfrm>
            <a:off x="548640" y="5486400"/>
            <a:ext cx="11064240" cy="731520"/>
          </a:xfrm>
          <a:prstGeom prst="rect">
            <a:avLst/>
          </a:prstGeom>
          <a:noFill/>
          <a:ln/>
        </p:spPr>
        <p:txBody>
          <a:bodyPr wrap="square" lIns="0" tIns="0" rIns="0" bIns="0" rtlCol="0" anchor="t"/>
          <a:lstStyle/>
          <a:p>
            <a:pPr indent="0" marL="0">
              <a:spcAft>
                <a:spcPts val="800"/>
              </a:spcAft>
              <a:buNone/>
            </a:pPr>
            <a:r>
              <a:rPr lang="en-US" sz="1500" b="1" dirty="0">
                <a:solidFill>
                  <a:schemeClr val="tx1"/>
                </a:solidFill>
              </a:rPr>
              <a:t>Input: </a:t>
            </a:r>
            <a:pPr indent="0" marL="0">
              <a:spcAft>
                <a:spcPts val="800"/>
              </a:spcAft>
              <a:buNone/>
            </a:pPr>
            <a:r>
              <a:rPr lang="en-US" sz="1500" dirty="0">
                <a:solidFill>
                  <a:schemeClr val="tx1"/>
                </a:solidFill>
              </a:rPr>
              <a:t>the brief's JSON string, e.g. {"Node_01":[0,0], …}.   </a:t>
            </a:r>
            <a:pPr indent="0" marL="0">
              <a:spcAft>
                <a:spcPts val="800"/>
              </a:spcAft>
              <a:buNone/>
            </a:pPr>
            <a:r>
              <a:rPr lang="en-US" sz="1500" b="1" dirty="0">
                <a:solidFill>
                  <a:schemeClr val="tx1"/>
                </a:solidFill>
              </a:rPr>
              <a:t>Output: </a:t>
            </a:r>
            <a:pPr indent="0" marL="0">
              <a:spcAft>
                <a:spcPts val="800"/>
              </a:spcAft>
              <a:buNone/>
            </a:pPr>
            <a:r>
              <a:rPr lang="en-US" sz="1500" dirty="0">
                <a:solidFill>
                  <a:schemeClr val="tx1"/>
                </a:solidFill>
              </a:rPr>
              <a:t>node → slot map, Slot × Node boolean matrix, optimality status, JSON for EMANE.</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lot chip"/>
          <p:cNvSpPr txBox="1"/>
          <p:nvPr/>
        </p:nvSpPr>
        <p:spPr>
          <a:xfrm>
            <a:off x="548640" y="347472"/>
            <a:ext cx="2871216" cy="292608"/>
          </a:xfrm>
          <a:prstGeom prst="roundRect">
            <a:avLst>
              <a:gd name="adj" fmla="val 25000"/>
            </a:avLst>
          </a:prstGeom>
          <a:solidFill>
            <a:schemeClr val="accent1"/>
          </a:solidFill>
          <a:ln/>
        </p:spPr>
        <p:txBody>
          <a:bodyPr wrap="square" lIns="0" tIns="0" rIns="0" bIns="0" rtlCol="0" anchor="ctr"/>
          <a:lstStyle/>
          <a:p>
            <a:pPr algn="ctr" indent="0" marL="0">
              <a:buNone/>
            </a:pPr>
            <a:r>
              <a:rPr lang="en-US" sz="1100" b="1" spc="100" kern="0" dirty="0">
                <a:solidFill>
                  <a:schemeClr val="tx1"/>
                </a:solidFill>
              </a:rPr>
              <a:t>SLOT 04  ·  HEURISTICS</a:t>
            </a:r>
            <a:endParaRPr lang="en-US" sz="1100" dirty="0"/>
          </a:p>
        </p:txBody>
      </p:sp>
      <p:sp>
        <p:nvSpPr>
          <p:cNvPr id="3" name="Text 0"/>
          <p:cNvSpPr/>
          <p:nvPr>
            <p:ph idx="100" type="title" hasCustomPrompt="1"/>
          </p:nvPr>
        </p:nvSpPr>
        <p:spPr>
          <a:xfrm>
            <a:off x="548640" y="749808"/>
            <a:ext cx="11064240" cy="731520"/>
          </a:xfrm>
          <a:prstGeom prst="rect">
            <a:avLst/>
          </a:prstGeom>
          <a:noFill/>
          <a:ln/>
        </p:spPr>
        <p:txBody>
          <a:bodyPr wrap="square" lIns="0" tIns="0" rIns="0" bIns="0" rtlCol="0" anchor="t"/>
          <a:lstStyle/>
          <a:p>
            <a:pPr algn="l" indent="0" marL="0">
              <a:buNone/>
            </a:pPr>
            <a:r>
              <a:rPr lang="en-US" sz="3400" b="1" dirty="0">
                <a:solidFill>
                  <a:schemeClr val="tx1"/>
                </a:solidFill>
              </a:rPr>
              <a:t>Same greedy rule, three smarter visiting orders</a:t>
            </a:r>
            <a:endParaRPr lang="en-US" sz="3400" dirty="0"/>
          </a:p>
        </p:txBody>
      </p:sp>
      <p:sp>
        <p:nvSpPr>
          <p:cNvPr id="4" name="Text 2"/>
          <p:cNvSpPr txBox="1"/>
          <p:nvPr/>
        </p:nvSpPr>
        <p:spPr>
          <a:xfrm>
            <a:off x="548640" y="1691640"/>
            <a:ext cx="11064240" cy="548640"/>
          </a:xfrm>
          <a:prstGeom prst="rect">
            <a:avLst/>
          </a:prstGeom>
          <a:noFill/>
          <a:ln/>
        </p:spPr>
        <p:txBody>
          <a:bodyPr wrap="square" lIns="0" tIns="0" rIns="0" bIns="0" rtlCol="0" anchor="t"/>
          <a:lstStyle/>
          <a:p>
            <a:pPr indent="0" marL="0">
              <a:spcAft>
                <a:spcPts val="800"/>
              </a:spcAft>
              <a:buNone/>
            </a:pPr>
            <a:r>
              <a:rPr lang="en-US" sz="1600" b="1" dirty="0">
                <a:solidFill>
                  <a:schemeClr val="tx1"/>
                </a:solidFill>
              </a:rPr>
              <a:t>Greedy: </a:t>
            </a:r>
            <a:pPr indent="0" marL="0">
              <a:spcAft>
                <a:spcPts val="800"/>
              </a:spcAft>
              <a:buNone/>
            </a:pPr>
            <a:r>
              <a:rPr lang="en-US" sz="1600" dirty="0">
                <a:solidFill>
                  <a:schemeClr val="tx1"/>
                </a:solidFill>
              </a:rPr>
              <a:t>visit radios one by one and give each the lowest slot its conflicts don't use. The order decides the quality.</a:t>
            </a:r>
            <a:endParaRPr lang="en-US" sz="1600" dirty="0"/>
          </a:p>
        </p:txBody>
      </p:sp>
      <p:sp>
        <p:nvSpPr>
          <p:cNvPr id="5" name="heuristic Largest-First"/>
          <p:cNvSpPr/>
          <p:nvPr/>
        </p:nvSpPr>
        <p:spPr>
          <a:xfrm>
            <a:off x="548640" y="2423160"/>
            <a:ext cx="3520440" cy="2331720"/>
          </a:xfrm>
          <a:prstGeom prst="roundRect">
            <a:avLst>
              <a:gd name="adj" fmla="val 4706"/>
            </a:avLst>
          </a:prstGeom>
          <a:solidFill>
            <a:schemeClr val="bg2"/>
          </a:solidFill>
          <a:ln w="12700">
            <a:solidFill>
              <a:schemeClr val="bg2"/>
            </a:solidFill>
            <a:prstDash val="solid"/>
          </a:ln>
        </p:spPr>
      </p:sp>
      <p:sp>
        <p:nvSpPr>
          <p:cNvPr id="6" name="Text 4"/>
          <p:cNvSpPr txBox="1"/>
          <p:nvPr/>
        </p:nvSpPr>
        <p:spPr>
          <a:xfrm>
            <a:off x="822960" y="2606040"/>
            <a:ext cx="3017520" cy="411480"/>
          </a:xfrm>
          <a:prstGeom prst="rect">
            <a:avLst/>
          </a:prstGeom>
          <a:noFill/>
          <a:ln/>
        </p:spPr>
        <p:txBody>
          <a:bodyPr wrap="square" lIns="0" tIns="0" rIns="0" bIns="0" rtlCol="0" anchor="ctr"/>
          <a:lstStyle/>
          <a:p>
            <a:pPr indent="0" marL="0">
              <a:buNone/>
            </a:pPr>
            <a:r>
              <a:rPr lang="en-US" sz="2000" b="1" dirty="0">
                <a:solidFill>
                  <a:schemeClr val="accent2"/>
                </a:solidFill>
              </a:rPr>
              <a:t>Largest-First</a:t>
            </a:r>
            <a:endParaRPr lang="en-US" sz="2000" dirty="0"/>
          </a:p>
        </p:txBody>
      </p:sp>
      <p:sp>
        <p:nvSpPr>
          <p:cNvPr id="7" name="Text 5"/>
          <p:cNvSpPr txBox="1"/>
          <p:nvPr/>
        </p:nvSpPr>
        <p:spPr>
          <a:xfrm>
            <a:off x="822960" y="3063240"/>
            <a:ext cx="3017520" cy="457200"/>
          </a:xfrm>
          <a:prstGeom prst="rect">
            <a:avLst/>
          </a:prstGeom>
          <a:noFill/>
          <a:ln/>
        </p:spPr>
        <p:txBody>
          <a:bodyPr wrap="square" lIns="0" tIns="0" rIns="0" bIns="0" rtlCol="0" anchor="ctr"/>
          <a:lstStyle/>
          <a:p>
            <a:pPr indent="0" marL="0">
              <a:buNone/>
            </a:pPr>
            <a:r>
              <a:rPr lang="en-US" sz="1500" b="1" dirty="0">
                <a:solidFill>
                  <a:schemeClr val="tx1"/>
                </a:solidFill>
              </a:rPr>
              <a:t>Most conflicts first</a:t>
            </a:r>
            <a:endParaRPr lang="en-US" sz="1500" dirty="0"/>
          </a:p>
        </p:txBody>
      </p:sp>
      <p:sp>
        <p:nvSpPr>
          <p:cNvPr id="8" name="Text 6"/>
          <p:cNvSpPr txBox="1"/>
          <p:nvPr/>
        </p:nvSpPr>
        <p:spPr>
          <a:xfrm>
            <a:off x="822960" y="3566160"/>
            <a:ext cx="3017520" cy="1097280"/>
          </a:xfrm>
          <a:prstGeom prst="rect">
            <a:avLst/>
          </a:prstGeom>
          <a:noFill/>
          <a:ln/>
        </p:spPr>
        <p:txBody>
          <a:bodyPr wrap="square" lIns="0" tIns="0" rIns="0" bIns="0" rtlCol="0" anchor="t"/>
          <a:lstStyle/>
          <a:p>
            <a:pPr indent="0" marL="0">
              <a:buNone/>
            </a:pPr>
            <a:r>
              <a:rPr lang="en-US" sz="1400" dirty="0">
                <a:solidFill>
                  <a:schemeClr val="tx2"/>
                </a:solidFill>
              </a:rPr>
              <a:t>The hardest radios get placed while there is still choice.</a:t>
            </a:r>
            <a:endParaRPr lang="en-US" sz="1400" dirty="0"/>
          </a:p>
        </p:txBody>
      </p:sp>
      <p:sp>
        <p:nvSpPr>
          <p:cNvPr id="9" name="heuristic Smallest-Last"/>
          <p:cNvSpPr/>
          <p:nvPr/>
        </p:nvSpPr>
        <p:spPr>
          <a:xfrm>
            <a:off x="4297680" y="2423160"/>
            <a:ext cx="3520440" cy="2331720"/>
          </a:xfrm>
          <a:prstGeom prst="roundRect">
            <a:avLst>
              <a:gd name="adj" fmla="val 4706"/>
            </a:avLst>
          </a:prstGeom>
          <a:solidFill>
            <a:schemeClr val="bg2"/>
          </a:solidFill>
          <a:ln w="12700">
            <a:solidFill>
              <a:schemeClr val="bg2"/>
            </a:solidFill>
            <a:prstDash val="solid"/>
          </a:ln>
        </p:spPr>
      </p:sp>
      <p:sp>
        <p:nvSpPr>
          <p:cNvPr id="10" name="Text 8"/>
          <p:cNvSpPr txBox="1"/>
          <p:nvPr/>
        </p:nvSpPr>
        <p:spPr>
          <a:xfrm>
            <a:off x="4572000" y="2606040"/>
            <a:ext cx="3017520" cy="411480"/>
          </a:xfrm>
          <a:prstGeom prst="rect">
            <a:avLst/>
          </a:prstGeom>
          <a:noFill/>
          <a:ln/>
        </p:spPr>
        <p:txBody>
          <a:bodyPr wrap="square" lIns="0" tIns="0" rIns="0" bIns="0" rtlCol="0" anchor="ctr"/>
          <a:lstStyle/>
          <a:p>
            <a:pPr indent="0" marL="0">
              <a:buNone/>
            </a:pPr>
            <a:r>
              <a:rPr lang="en-US" sz="2000" b="1" dirty="0">
                <a:solidFill>
                  <a:schemeClr val="accent2"/>
                </a:solidFill>
              </a:rPr>
              <a:t>Smallest-Last</a:t>
            </a:r>
            <a:endParaRPr lang="en-US" sz="2000" dirty="0"/>
          </a:p>
        </p:txBody>
      </p:sp>
      <p:sp>
        <p:nvSpPr>
          <p:cNvPr id="11" name="Text 9"/>
          <p:cNvSpPr txBox="1"/>
          <p:nvPr/>
        </p:nvSpPr>
        <p:spPr>
          <a:xfrm>
            <a:off x="4572000" y="3063240"/>
            <a:ext cx="3017520" cy="457200"/>
          </a:xfrm>
          <a:prstGeom prst="rect">
            <a:avLst/>
          </a:prstGeom>
          <a:noFill/>
          <a:ln/>
        </p:spPr>
        <p:txBody>
          <a:bodyPr wrap="square" lIns="0" tIns="0" rIns="0" bIns="0" rtlCol="0" anchor="ctr"/>
          <a:lstStyle/>
          <a:p>
            <a:pPr indent="0" marL="0">
              <a:buNone/>
            </a:pPr>
            <a:r>
              <a:rPr lang="en-US" sz="1500" b="1" dirty="0">
                <a:solidFill>
                  <a:schemeClr val="tx1"/>
                </a:solidFill>
              </a:rPr>
              <a:t>Peel off the easiest radio, colour in reverse</a:t>
            </a:r>
            <a:endParaRPr lang="en-US" sz="1500" dirty="0"/>
          </a:p>
        </p:txBody>
      </p:sp>
      <p:sp>
        <p:nvSpPr>
          <p:cNvPr id="12" name="Text 10"/>
          <p:cNvSpPr txBox="1"/>
          <p:nvPr/>
        </p:nvSpPr>
        <p:spPr>
          <a:xfrm>
            <a:off x="4572000" y="3566160"/>
            <a:ext cx="3017520" cy="1097280"/>
          </a:xfrm>
          <a:prstGeom prst="rect">
            <a:avLst/>
          </a:prstGeom>
          <a:noFill/>
          <a:ln/>
        </p:spPr>
        <p:txBody>
          <a:bodyPr wrap="square" lIns="0" tIns="0" rIns="0" bIns="0" rtlCol="0" anchor="t"/>
          <a:lstStyle/>
          <a:p>
            <a:pPr indent="0" marL="0">
              <a:buNone/>
            </a:pPr>
            <a:r>
              <a:rPr lang="en-US" sz="1400" dirty="0">
                <a:solidFill>
                  <a:schemeClr val="tx2"/>
                </a:solidFill>
              </a:rPr>
              <a:t>Each radio sees few coloured conflicts. The best fit for distance-based graphs.</a:t>
            </a:r>
            <a:endParaRPr lang="en-US" sz="1400" dirty="0"/>
          </a:p>
        </p:txBody>
      </p:sp>
      <p:sp>
        <p:nvSpPr>
          <p:cNvPr id="13" name="heuristic DSATUR"/>
          <p:cNvSpPr/>
          <p:nvPr/>
        </p:nvSpPr>
        <p:spPr>
          <a:xfrm>
            <a:off x="8046720" y="2423160"/>
            <a:ext cx="3520440" cy="2331720"/>
          </a:xfrm>
          <a:prstGeom prst="roundRect">
            <a:avLst>
              <a:gd name="adj" fmla="val 4706"/>
            </a:avLst>
          </a:prstGeom>
          <a:solidFill>
            <a:schemeClr val="bg2"/>
          </a:solidFill>
          <a:ln w="12700">
            <a:solidFill>
              <a:schemeClr val="bg2"/>
            </a:solidFill>
            <a:prstDash val="solid"/>
          </a:ln>
        </p:spPr>
      </p:sp>
      <p:sp>
        <p:nvSpPr>
          <p:cNvPr id="14" name="Text 12"/>
          <p:cNvSpPr txBox="1"/>
          <p:nvPr/>
        </p:nvSpPr>
        <p:spPr>
          <a:xfrm>
            <a:off x="8321040" y="2606040"/>
            <a:ext cx="3017520" cy="411480"/>
          </a:xfrm>
          <a:prstGeom prst="rect">
            <a:avLst/>
          </a:prstGeom>
          <a:noFill/>
          <a:ln/>
        </p:spPr>
        <p:txBody>
          <a:bodyPr wrap="square" lIns="0" tIns="0" rIns="0" bIns="0" rtlCol="0" anchor="ctr"/>
          <a:lstStyle/>
          <a:p>
            <a:pPr indent="0" marL="0">
              <a:buNone/>
            </a:pPr>
            <a:r>
              <a:rPr lang="en-US" sz="2000" b="1" dirty="0">
                <a:solidFill>
                  <a:schemeClr val="accent2"/>
                </a:solidFill>
              </a:rPr>
              <a:t>DSATUR</a:t>
            </a:r>
            <a:endParaRPr lang="en-US" sz="2000" dirty="0"/>
          </a:p>
        </p:txBody>
      </p:sp>
      <p:sp>
        <p:nvSpPr>
          <p:cNvPr id="15" name="Text 13"/>
          <p:cNvSpPr txBox="1"/>
          <p:nvPr/>
        </p:nvSpPr>
        <p:spPr>
          <a:xfrm>
            <a:off x="8321040" y="3063240"/>
            <a:ext cx="3017520" cy="457200"/>
          </a:xfrm>
          <a:prstGeom prst="rect">
            <a:avLst/>
          </a:prstGeom>
          <a:noFill/>
          <a:ln/>
        </p:spPr>
        <p:txBody>
          <a:bodyPr wrap="square" lIns="0" tIns="0" rIns="0" bIns="0" rtlCol="0" anchor="ctr"/>
          <a:lstStyle/>
          <a:p>
            <a:pPr indent="0" marL="0">
              <a:buNone/>
            </a:pPr>
            <a:r>
              <a:rPr lang="en-US" sz="1500" b="1" dirty="0">
                <a:solidFill>
                  <a:schemeClr val="tx1"/>
                </a:solidFill>
              </a:rPr>
              <a:t>Most boxed-in radio next</a:t>
            </a:r>
            <a:endParaRPr lang="en-US" sz="1500" dirty="0"/>
          </a:p>
        </p:txBody>
      </p:sp>
      <p:sp>
        <p:nvSpPr>
          <p:cNvPr id="16" name="Text 14"/>
          <p:cNvSpPr txBox="1"/>
          <p:nvPr/>
        </p:nvSpPr>
        <p:spPr>
          <a:xfrm>
            <a:off x="8321040" y="3566160"/>
            <a:ext cx="3017520" cy="1097280"/>
          </a:xfrm>
          <a:prstGeom prst="rect">
            <a:avLst/>
          </a:prstGeom>
          <a:noFill/>
          <a:ln/>
        </p:spPr>
        <p:txBody>
          <a:bodyPr wrap="square" lIns="0" tIns="0" rIns="0" bIns="0" rtlCol="0" anchor="t"/>
          <a:lstStyle/>
          <a:p>
            <a:pPr indent="0" marL="0">
              <a:buNone/>
            </a:pPr>
            <a:r>
              <a:rPr lang="en-US" sz="1400" dirty="0">
                <a:solidFill>
                  <a:schemeClr val="tx2"/>
                </a:solidFill>
              </a:rPr>
              <a:t>Handle the radio with the fewest options left, before it runs out.</a:t>
            </a:r>
            <a:endParaRPr lang="en-US" sz="1400" dirty="0"/>
          </a:p>
        </p:txBody>
      </p:sp>
      <p:sp>
        <p:nvSpPr>
          <p:cNvPr id="17" name="improvers"/>
          <p:cNvSpPr/>
          <p:nvPr/>
        </p:nvSpPr>
        <p:spPr>
          <a:xfrm>
            <a:off x="548640" y="4983480"/>
            <a:ext cx="11064240" cy="1188720"/>
          </a:xfrm>
          <a:prstGeom prst="roundRect">
            <a:avLst>
              <a:gd name="adj" fmla="val 9231"/>
            </a:avLst>
          </a:prstGeom>
          <a:solidFill>
            <a:srgbClr val="FDF1DF"/>
          </a:solidFill>
          <a:ln w="12700">
            <a:solidFill>
              <a:srgbClr val="FDF1DF"/>
            </a:solidFill>
            <a:prstDash val="solid"/>
          </a:ln>
        </p:spPr>
      </p:sp>
      <p:sp>
        <p:nvSpPr>
          <p:cNvPr id="18" name="Text 16"/>
          <p:cNvSpPr txBox="1"/>
          <p:nvPr/>
        </p:nvSpPr>
        <p:spPr>
          <a:xfrm>
            <a:off x="822960" y="5120640"/>
            <a:ext cx="10515600" cy="914400"/>
          </a:xfrm>
          <a:prstGeom prst="rect">
            <a:avLst/>
          </a:prstGeom>
          <a:noFill/>
          <a:ln/>
        </p:spPr>
        <p:txBody>
          <a:bodyPr wrap="square" lIns="0" tIns="0" rIns="0" bIns="0" rtlCol="0" anchor="ctr"/>
          <a:lstStyle/>
          <a:p>
            <a:pPr indent="0" marL="0">
              <a:buNone/>
            </a:pPr>
            <a:r>
              <a:rPr lang="en-US" sz="1500" b="1" dirty="0">
                <a:solidFill>
                  <a:schemeClr val="tx2"/>
                </a:solidFill>
              </a:rPr>
              <a:t>Then: </a:t>
            </a:r>
            <a:pPr indent="0" marL="0">
              <a:buNone/>
            </a:pPr>
            <a:r>
              <a:rPr lang="en-US" sz="1500" b="1" dirty="0">
                <a:solidFill>
                  <a:schemeClr val="tx1"/>
                </a:solidFill>
              </a:rPr>
              <a:t>Iterated Greedy (Culberson) </a:t>
            </a:r>
            <a:pPr indent="0" marL="0">
              <a:buNone/>
            </a:pPr>
            <a:r>
              <a:rPr lang="en-US" sz="1500" dirty="0">
                <a:solidFill>
                  <a:schemeClr val="tx2"/>
                </a:solidFill>
              </a:rPr>
              <a:t>regroups radios by slot and recolours, and is proven never to get worse.  </a:t>
            </a:r>
            <a:pPr indent="0" marL="0">
              <a:buNone/>
            </a:pPr>
            <a:r>
              <a:rPr lang="en-US" sz="1500" b="1" dirty="0">
                <a:solidFill>
                  <a:schemeClr val="tx1"/>
                </a:solidFill>
              </a:rPr>
              <a:t>Exact backtracking </a:t>
            </a:r>
            <a:pPr indent="0" marL="0">
              <a:buNone/>
            </a:pPr>
            <a:r>
              <a:rPr lang="en-US" sz="1500" dirty="0">
                <a:solidFill>
                  <a:schemeClr val="tx2"/>
                </a:solidFill>
              </a:rPr>
              <a:t>finds a smaller schedule or proves none exists (5 s limit, so it never hangs).</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lot chip"/>
          <p:cNvSpPr txBox="1"/>
          <p:nvPr/>
        </p:nvSpPr>
        <p:spPr>
          <a:xfrm>
            <a:off x="548640" y="347472"/>
            <a:ext cx="2322576" cy="292608"/>
          </a:xfrm>
          <a:prstGeom prst="roundRect">
            <a:avLst>
              <a:gd name="adj" fmla="val 25000"/>
            </a:avLst>
          </a:prstGeom>
          <a:solidFill>
            <a:schemeClr val="accent1"/>
          </a:solidFill>
          <a:ln/>
        </p:spPr>
        <p:txBody>
          <a:bodyPr wrap="square" lIns="0" tIns="0" rIns="0" bIns="0" rtlCol="0" anchor="ctr"/>
          <a:lstStyle/>
          <a:p>
            <a:pPr algn="ctr" indent="0" marL="0">
              <a:buNone/>
            </a:pPr>
            <a:r>
              <a:rPr lang="en-US" sz="1100" b="1" spc="100" kern="0" dirty="0">
                <a:solidFill>
                  <a:schemeClr val="tx1"/>
                </a:solidFill>
              </a:rPr>
              <a:t>SLOT 05  ·  PROOF</a:t>
            </a:r>
            <a:endParaRPr lang="en-US" sz="1100" dirty="0"/>
          </a:p>
        </p:txBody>
      </p:sp>
      <p:sp>
        <p:nvSpPr>
          <p:cNvPr id="3" name="Text 0"/>
          <p:cNvSpPr/>
          <p:nvPr>
            <p:ph idx="100" type="title" hasCustomPrompt="1"/>
          </p:nvPr>
        </p:nvSpPr>
        <p:spPr>
          <a:xfrm>
            <a:off x="548640" y="749808"/>
            <a:ext cx="11064240" cy="731520"/>
          </a:xfrm>
          <a:prstGeom prst="rect">
            <a:avLst/>
          </a:prstGeom>
          <a:noFill/>
          <a:ln/>
        </p:spPr>
        <p:txBody>
          <a:bodyPr wrap="square" lIns="0" tIns="0" rIns="0" bIns="0" rtlCol="0" anchor="t"/>
          <a:lstStyle/>
          <a:p>
            <a:pPr algn="l" indent="0" marL="0">
              <a:buNone/>
            </a:pPr>
            <a:r>
              <a:rPr lang="en-US" sz="3400" b="1" dirty="0">
                <a:solidFill>
                  <a:schemeClr val="tx1"/>
                </a:solidFill>
              </a:rPr>
              <a:t>Not just a good answer: a proven minimum</a:t>
            </a:r>
            <a:endParaRPr lang="en-US" sz="3400" dirty="0"/>
          </a:p>
        </p:txBody>
      </p:sp>
      <p:pic>
        <p:nvPicPr>
          <p:cNvPr id="4" name="Image 0" descr="4x4 grid schedule coloured by slot">    </p:cNvPr>
          <p:cNvPicPr>
            <a:picLocks noChangeAspect="1"/>
          </p:cNvPicPr>
          <p:nvPr/>
        </p:nvPicPr>
        <p:blipFill>
          <a:blip r:embed="rId1"/>
          <a:stretch>
            <a:fillRect/>
          </a:stretch>
        </p:blipFill>
        <p:spPr>
          <a:xfrm>
            <a:off x="6720840" y="1600200"/>
            <a:ext cx="4663440" cy="4663440"/>
          </a:xfrm>
          <a:prstGeom prst="rect">
            <a:avLst/>
          </a:prstGeom>
        </p:spPr>
      </p:pic>
      <p:sp>
        <p:nvSpPr>
          <p:cNvPr id="5" name="Text 2"/>
          <p:cNvSpPr txBox="1"/>
          <p:nvPr/>
        </p:nvSpPr>
        <p:spPr>
          <a:xfrm>
            <a:off x="548640" y="1783080"/>
            <a:ext cx="5760720" cy="1280160"/>
          </a:xfrm>
          <a:prstGeom prst="rect">
            <a:avLst/>
          </a:prstGeom>
          <a:noFill/>
          <a:ln/>
        </p:spPr>
        <p:txBody>
          <a:bodyPr wrap="square" lIns="0" tIns="0" rIns="0" bIns="0" rtlCol="0" anchor="t"/>
          <a:lstStyle/>
          <a:p>
            <a:pPr indent="0" marL="0">
              <a:buNone/>
            </a:pPr>
            <a:r>
              <a:rPr lang="en-US" sz="4400" b="1" dirty="0">
                <a:solidFill>
                  <a:schemeClr val="accent1"/>
                </a:solidFill>
              </a:rPr>
              <a:t>9 = 8 + 1</a:t>
            </a:r>
            <a:endParaRPr lang="en-US" sz="4400" dirty="0"/>
          </a:p>
          <a:p>
            <a:pPr indent="0" marL="0">
              <a:buNone/>
            </a:pPr>
            <a:r>
              <a:rPr lang="en-US" sz="1300" dirty="0">
                <a:solidFill>
                  <a:schemeClr val="tx2"/>
                </a:solidFill>
              </a:rPr>
              <a:t>Node_06 has 8 neighbours. It and all of them must differ.</a:t>
            </a:r>
            <a:endParaRPr lang="en-US" sz="4400" dirty="0"/>
          </a:p>
        </p:txBody>
      </p:sp>
      <p:sp>
        <p:nvSpPr>
          <p:cNvPr id="6" name="Text 3"/>
          <p:cNvSpPr txBox="1"/>
          <p:nvPr/>
        </p:nvSpPr>
        <p:spPr>
          <a:xfrm>
            <a:off x="548640" y="3246120"/>
            <a:ext cx="5852160" cy="2926080"/>
          </a:xfrm>
          <a:prstGeom prst="rect">
            <a:avLst/>
          </a:prstGeom>
          <a:noFill/>
          <a:ln/>
        </p:spPr>
        <p:txBody>
          <a:bodyPr wrap="square" lIns="0" tIns="0" rIns="0" bIns="0" rtlCol="0" anchor="t"/>
          <a:lstStyle/>
          <a:p>
            <a:pPr marL="342900" indent="-342900">
              <a:spcAft>
                <a:spcPts val="800"/>
              </a:spcAft>
              <a:buSzPct val="100000"/>
              <a:buChar char="•"/>
            </a:pPr>
            <a:r>
              <a:rPr lang="en-US" sz="1600" b="1" dirty="0">
                <a:solidFill>
                  <a:schemeClr val="tx1"/>
                </a:solidFill>
              </a:rPr>
              <a:t>Degree bound: </a:t>
            </a:r>
            <a:pPr indent="0" marL="0">
              <a:spcAft>
                <a:spcPts val="800"/>
              </a:spcAft>
              <a:buNone/>
            </a:pPr>
            <a:r>
              <a:rPr lang="en-US" sz="1600" dirty="0">
                <a:solidFill>
                  <a:schemeClr val="tx1"/>
                </a:solidFill>
              </a:rPr>
              <a:t>the busiest radio + its neighbours all need different slots</a:t>
            </a:r>
            <a:endParaRPr lang="en-US" sz="1600" dirty="0"/>
          </a:p>
          <a:p>
            <a:pPr marL="342900" indent="-342900">
              <a:spcAft>
                <a:spcPts val="800"/>
              </a:spcAft>
              <a:buSzPct val="100000"/>
              <a:buChar char="•"/>
            </a:pPr>
            <a:r>
              <a:rPr lang="en-US" sz="1600" b="1" dirty="0">
                <a:solidFill>
                  <a:schemeClr val="tx1"/>
                </a:solidFill>
              </a:rPr>
              <a:t>Clique bound: </a:t>
            </a:r>
            <a:pPr indent="0" marL="0">
              <a:spcAft>
                <a:spcPts val="800"/>
              </a:spcAft>
              <a:buNone/>
            </a:pPr>
            <a:r>
              <a:rPr lang="en-US" sz="1600" dirty="0">
                <a:solidFill>
                  <a:schemeClr val="tx1"/>
                </a:solidFill>
              </a:rPr>
              <a:t>the biggest all-clashing group in G² needs one slot each</a:t>
            </a:r>
            <a:endParaRPr lang="en-US" sz="1600" dirty="0"/>
          </a:p>
          <a:p>
            <a:pPr marL="342900" indent="-342900">
              <a:spcAft>
                <a:spcPts val="800"/>
              </a:spcAft>
              <a:buSzPct val="100000"/>
              <a:buChar char="•"/>
            </a:pPr>
            <a:r>
              <a:rPr lang="en-US" sz="1600" b="1" dirty="0">
                <a:solidFill>
                  <a:schemeClr val="tx1"/>
                </a:solidFill>
              </a:rPr>
              <a:t>If schedule = bound, </a:t>
            </a:r>
            <a:pPr indent="0" marL="0">
              <a:spcAft>
                <a:spcPts val="800"/>
              </a:spcAft>
              <a:buNone/>
            </a:pPr>
            <a:r>
              <a:rPr lang="en-US" sz="1600" dirty="0">
                <a:solidFill>
                  <a:schemeClr val="tx1"/>
                </a:solidFill>
              </a:rPr>
              <a:t>the report prints PROVEN OPTIMAL</a:t>
            </a:r>
            <a:endParaRPr lang="en-US" sz="1600" dirty="0"/>
          </a:p>
          <a:p>
            <a:pPr marL="342900" indent="-342900">
              <a:spcAft>
                <a:spcPts val="800"/>
              </a:spcAft>
              <a:buSzPct val="100000"/>
              <a:buChar char="•"/>
            </a:pPr>
            <a:r>
              <a:rPr lang="en-US" sz="1600" b="1" dirty="0">
                <a:solidFill>
                  <a:schemeClr val="tx1"/>
                </a:solidFill>
              </a:rPr>
              <a:t>Independent verifier </a:t>
            </a:r>
            <a:pPr indent="0" marL="0">
              <a:spcAft>
                <a:spcPts val="800"/>
              </a:spcAft>
              <a:buNone/>
            </a:pPr>
            <a:r>
              <a:rPr lang="en-US" sz="1600" dirty="0">
                <a:solidFill>
                  <a:schemeClr val="tx1"/>
                </a:solidFill>
              </a:rPr>
              <a:t>re-measures real hop distances for every same-slot pair</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lot chip"/>
          <p:cNvSpPr txBox="1"/>
          <p:nvPr/>
        </p:nvSpPr>
        <p:spPr>
          <a:xfrm>
            <a:off x="548640" y="347472"/>
            <a:ext cx="3310128" cy="292608"/>
          </a:xfrm>
          <a:prstGeom prst="roundRect">
            <a:avLst>
              <a:gd name="adj" fmla="val 25000"/>
            </a:avLst>
          </a:prstGeom>
          <a:solidFill>
            <a:schemeClr val="accent1"/>
          </a:solidFill>
          <a:ln/>
        </p:spPr>
        <p:txBody>
          <a:bodyPr wrap="square" lIns="0" tIns="0" rIns="0" bIns="0" rtlCol="0" anchor="ctr"/>
          <a:lstStyle/>
          <a:p>
            <a:pPr algn="ctr" indent="0" marL="0">
              <a:buNone/>
            </a:pPr>
            <a:r>
              <a:rPr lang="en-US" sz="1100" b="1" spc="100" kern="0" dirty="0">
                <a:solidFill>
                  <a:schemeClr val="tx1"/>
                </a:solidFill>
              </a:rPr>
              <a:t>SLOT 06  ·  WHY DISTANCE-2</a:t>
            </a:r>
            <a:endParaRPr lang="en-US" sz="1100" dirty="0"/>
          </a:p>
        </p:txBody>
      </p:sp>
      <p:sp>
        <p:nvSpPr>
          <p:cNvPr id="3" name="Text 0"/>
          <p:cNvSpPr/>
          <p:nvPr>
            <p:ph idx="100" type="title" hasCustomPrompt="1"/>
          </p:nvPr>
        </p:nvSpPr>
        <p:spPr>
          <a:xfrm>
            <a:off x="548640" y="749808"/>
            <a:ext cx="11064240" cy="731520"/>
          </a:xfrm>
          <a:prstGeom prst="rect">
            <a:avLst/>
          </a:prstGeom>
          <a:noFill/>
          <a:ln/>
        </p:spPr>
        <p:txBody>
          <a:bodyPr wrap="square" lIns="0" tIns="0" rIns="0" bIns="0" rtlCol="0" anchor="t"/>
          <a:lstStyle/>
          <a:p>
            <a:pPr algn="l" indent="0" marL="0">
              <a:buNone/>
            </a:pPr>
            <a:r>
              <a:rPr lang="en-US" sz="3400" b="1" dirty="0">
                <a:solidFill>
                  <a:schemeClr val="tx1"/>
                </a:solidFill>
              </a:rPr>
              <a:t>Fewer slots is not better if packets collide</a:t>
            </a:r>
            <a:endParaRPr lang="en-US" sz="3400" dirty="0"/>
          </a:p>
        </p:txBody>
      </p:sp>
      <p:pic>
        <p:nvPicPr>
          <p:cNvPr id="4" name="Image 0" descr="Naive 4-slot schedule with 24 collisions next to optimized 9-slot schedule">    </p:cNvPr>
          <p:cNvPicPr>
            <a:picLocks noChangeAspect="1"/>
          </p:cNvPicPr>
          <p:nvPr/>
        </p:nvPicPr>
        <p:blipFill>
          <a:blip r:embed="rId1"/>
          <a:stretch>
            <a:fillRect/>
          </a:stretch>
        </p:blipFill>
        <p:spPr>
          <a:xfrm>
            <a:off x="548640" y="1645920"/>
            <a:ext cx="7498080" cy="4251960"/>
          </a:xfrm>
          <a:prstGeom prst="rect">
            <a:avLst/>
          </a:prstGeom>
        </p:spPr>
      </p:pic>
      <p:sp>
        <p:nvSpPr>
          <p:cNvPr id="5" name="Text 2"/>
          <p:cNvSpPr txBox="1"/>
          <p:nvPr/>
        </p:nvSpPr>
        <p:spPr>
          <a:xfrm>
            <a:off x="8412480" y="1783080"/>
            <a:ext cx="3291840" cy="1280160"/>
          </a:xfrm>
          <a:prstGeom prst="rect">
            <a:avLst/>
          </a:prstGeom>
          <a:noFill/>
          <a:ln/>
        </p:spPr>
        <p:txBody>
          <a:bodyPr wrap="square" lIns="0" tIns="0" rIns="0" bIns="0" rtlCol="0" anchor="t"/>
          <a:lstStyle/>
          <a:p>
            <a:pPr indent="0" marL="0">
              <a:buNone/>
            </a:pPr>
            <a:r>
              <a:rPr lang="en-US" sz="4400" b="1" dirty="0">
                <a:solidFill>
                  <a:schemeClr val="accent6"/>
                </a:solidFill>
              </a:rPr>
              <a:t>4 slots</a:t>
            </a:r>
            <a:endParaRPr lang="en-US" sz="4400" dirty="0"/>
          </a:p>
          <a:p>
            <a:pPr indent="0" marL="0">
              <a:buNone/>
            </a:pPr>
            <a:r>
              <a:rPr lang="en-US" sz="1300" dirty="0">
                <a:solidFill>
                  <a:schemeClr val="tx2"/>
                </a:solidFill>
              </a:rPr>
              <a:t>naive one-hop colouring: looks better…</a:t>
            </a:r>
            <a:endParaRPr lang="en-US" sz="4400" dirty="0"/>
          </a:p>
        </p:txBody>
      </p:sp>
      <p:sp>
        <p:nvSpPr>
          <p:cNvPr id="6" name="Text 3"/>
          <p:cNvSpPr txBox="1"/>
          <p:nvPr/>
        </p:nvSpPr>
        <p:spPr>
          <a:xfrm>
            <a:off x="8412480" y="3063240"/>
            <a:ext cx="3291840" cy="1280160"/>
          </a:xfrm>
          <a:prstGeom prst="rect">
            <a:avLst/>
          </a:prstGeom>
          <a:noFill/>
          <a:ln/>
        </p:spPr>
        <p:txBody>
          <a:bodyPr wrap="square" lIns="0" tIns="0" rIns="0" bIns="0" rtlCol="0" anchor="t"/>
          <a:lstStyle/>
          <a:p>
            <a:pPr indent="0" marL="0">
              <a:buNone/>
            </a:pPr>
            <a:r>
              <a:rPr lang="en-US" sz="4400" b="1" dirty="0">
                <a:solidFill>
                  <a:schemeClr val="accent3"/>
                </a:solidFill>
              </a:rPr>
              <a:t>24</a:t>
            </a:r>
            <a:endParaRPr lang="en-US" sz="4400" dirty="0"/>
          </a:p>
          <a:p>
            <a:pPr indent="0" marL="0">
              <a:buNone/>
            </a:pPr>
            <a:r>
              <a:rPr lang="en-US" sz="1300" dirty="0">
                <a:solidFill>
                  <a:schemeClr val="tx2"/>
                </a:solidFill>
              </a:rPr>
              <a:t>hidden-terminal collisions</a:t>
            </a:r>
            <a:endParaRPr lang="en-US" sz="4400" dirty="0"/>
          </a:p>
        </p:txBody>
      </p:sp>
      <p:sp>
        <p:nvSpPr>
          <p:cNvPr id="7" name="Text 4"/>
          <p:cNvSpPr txBox="1"/>
          <p:nvPr/>
        </p:nvSpPr>
        <p:spPr>
          <a:xfrm>
            <a:off x="8412480" y="4343400"/>
            <a:ext cx="3291840" cy="1280160"/>
          </a:xfrm>
          <a:prstGeom prst="rect">
            <a:avLst/>
          </a:prstGeom>
          <a:noFill/>
          <a:ln/>
        </p:spPr>
        <p:txBody>
          <a:bodyPr wrap="square" lIns="0" tIns="0" rIns="0" bIns="0" rtlCol="0" anchor="t"/>
          <a:lstStyle/>
          <a:p>
            <a:pPr indent="0" marL="0">
              <a:buNone/>
            </a:pPr>
            <a:r>
              <a:rPr lang="en-US" sz="4400" b="1" dirty="0">
                <a:solidFill>
                  <a:schemeClr val="accent4"/>
                </a:solidFill>
              </a:rPr>
              <a:t>9 · 0</a:t>
            </a:r>
            <a:endParaRPr lang="en-US" sz="4400" dirty="0"/>
          </a:p>
          <a:p>
            <a:pPr indent="0" marL="0">
              <a:buNone/>
            </a:pPr>
            <a:r>
              <a:rPr lang="en-US" sz="1300" dirty="0">
                <a:solidFill>
                  <a:schemeClr val="tx2"/>
                </a:solidFill>
              </a:rPr>
              <a:t>ours: slots · collisions</a:t>
            </a:r>
            <a:endParaRPr lang="en-US" sz="4400" dirty="0"/>
          </a:p>
        </p:txBody>
      </p:sp>
      <p:sp>
        <p:nvSpPr>
          <p:cNvPr id="8" name="Text 5"/>
          <p:cNvSpPr txBox="1"/>
          <p:nvPr/>
        </p:nvSpPr>
        <p:spPr>
          <a:xfrm>
            <a:off x="548640" y="5943600"/>
            <a:ext cx="11064240" cy="365760"/>
          </a:xfrm>
          <a:prstGeom prst="rect">
            <a:avLst/>
          </a:prstGeom>
          <a:noFill/>
          <a:ln/>
        </p:spPr>
        <p:txBody>
          <a:bodyPr wrap="square" lIns="0" tIns="0" rIns="0" bIns="0" rtlCol="0" anchor="ctr"/>
          <a:lstStyle/>
          <a:p>
            <a:pPr indent="0" marL="0">
              <a:buNone/>
            </a:pPr>
            <a:r>
              <a:rPr lang="en-US" sz="1300" i="1" dirty="0">
                <a:solidFill>
                  <a:schemeClr val="tx2"/>
                </a:solidFill>
              </a:rPr>
              <a:t>Side note: assuming the brief's 300 m grid, its 5-slot sample output has 21 hidden-terminal collisions, which my verifier caught.</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lot chip"/>
          <p:cNvSpPr txBox="1"/>
          <p:nvPr/>
        </p:nvSpPr>
        <p:spPr>
          <a:xfrm>
            <a:off x="548640" y="347472"/>
            <a:ext cx="2980944" cy="292608"/>
          </a:xfrm>
          <a:prstGeom prst="roundRect">
            <a:avLst>
              <a:gd name="adj" fmla="val 25000"/>
            </a:avLst>
          </a:prstGeom>
          <a:solidFill>
            <a:schemeClr val="accent1"/>
          </a:solidFill>
          <a:ln/>
        </p:spPr>
        <p:txBody>
          <a:bodyPr wrap="square" lIns="0" tIns="0" rIns="0" bIns="0" rtlCol="0" anchor="ctr"/>
          <a:lstStyle/>
          <a:p>
            <a:pPr algn="ctr" indent="0" marL="0">
              <a:buNone/>
            </a:pPr>
            <a:r>
              <a:rPr lang="en-US" sz="1100" b="1" spc="100" kern="0" dirty="0">
                <a:solidFill>
                  <a:schemeClr val="tx1"/>
                </a:solidFill>
              </a:rPr>
              <a:t>SLOT 07  ·  STRESS TEST</a:t>
            </a:r>
            <a:endParaRPr lang="en-US" sz="1100" dirty="0"/>
          </a:p>
        </p:txBody>
      </p:sp>
      <p:sp>
        <p:nvSpPr>
          <p:cNvPr id="3" name="Text 0"/>
          <p:cNvSpPr/>
          <p:nvPr>
            <p:ph idx="100" type="title" hasCustomPrompt="1"/>
          </p:nvPr>
        </p:nvSpPr>
        <p:spPr>
          <a:xfrm>
            <a:off x="548640" y="749808"/>
            <a:ext cx="11064240" cy="731520"/>
          </a:xfrm>
          <a:prstGeom prst="rect">
            <a:avLst/>
          </a:prstGeom>
          <a:noFill/>
          <a:ln/>
        </p:spPr>
        <p:txBody>
          <a:bodyPr wrap="square" lIns="0" tIns="0" rIns="0" bIns="0" rtlCol="0" anchor="t"/>
          <a:lstStyle/>
          <a:p>
            <a:pPr algn="l" indent="0" marL="0">
              <a:buNone/>
            </a:pPr>
            <a:r>
              <a:rPr lang="en-US" sz="3400" b="1" dirty="0">
                <a:solidFill>
                  <a:schemeClr val="tx1"/>
                </a:solidFill>
              </a:rPr>
              <a:t>200 random networks, always at the minimum</a:t>
            </a:r>
            <a:endParaRPr lang="en-US" sz="3400" dirty="0"/>
          </a:p>
        </p:txBody>
      </p:sp>
      <p:graphicFrame>
        <p:nvGraphicFramePr>
          <p:cNvPr id="4" name="benchmark chart" descr=""/>
          <p:cNvGraphicFramePr/>
          <p:nvPr/>
        </p:nvGraphicFramePr>
        <p:xfrm>
          <a:off x="548640" y="1645920"/>
          <a:ext cx="6949440" cy="448056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7863840" y="1783080"/>
            <a:ext cx="3749040" cy="4389120"/>
          </a:xfrm>
          <a:prstGeom prst="rect">
            <a:avLst/>
          </a:prstGeom>
          <a:noFill/>
          <a:ln/>
        </p:spPr>
        <p:txBody>
          <a:bodyPr wrap="square" lIns="0" tIns="0" rIns="0" bIns="0" rtlCol="0" anchor="t"/>
          <a:lstStyle/>
          <a:p>
            <a:pPr marL="342900" indent="-342900">
              <a:spcAft>
                <a:spcPts val="800"/>
              </a:spcAft>
              <a:buSzPct val="100000"/>
              <a:buChar char="•"/>
            </a:pPr>
            <a:r>
              <a:rPr lang="en-US" sz="1500" b="1" dirty="0">
                <a:solidFill>
                  <a:schemeClr val="tx1"/>
                </a:solidFill>
              </a:rPr>
              <a:t>Largest-First alone </a:t>
            </a:r>
            <a:pPr indent="0" marL="0">
              <a:spcAft>
                <a:spcPts val="800"/>
              </a:spcAft>
              <a:buNone/>
            </a:pPr>
            <a:r>
              <a:rPr lang="en-US" sz="1500" dirty="0">
                <a:solidFill>
                  <a:schemeClr val="tx1"/>
                </a:solidFill>
              </a:rPr>
              <a:t>wastes a slot in up to 1 in 4 networks</a:t>
            </a:r>
            <a:endParaRPr lang="en-US" sz="1500" dirty="0"/>
          </a:p>
          <a:p>
            <a:pPr marL="342900" indent="-342900">
              <a:spcAft>
                <a:spcPts val="800"/>
              </a:spcAft>
              <a:buSzPct val="100000"/>
              <a:buChar char="•"/>
            </a:pPr>
            <a:r>
              <a:rPr lang="en-US" sz="1500" b="1" dirty="0">
                <a:solidFill>
                  <a:schemeClr val="tx1"/>
                </a:solidFill>
              </a:rPr>
              <a:t>Smallest-Last </a:t>
            </a:r>
            <a:pPr indent="0" marL="0">
              <a:spcAft>
                <a:spcPts val="800"/>
              </a:spcAft>
              <a:buNone/>
            </a:pPr>
            <a:r>
              <a:rPr lang="en-US" sz="1500" dirty="0">
                <a:solidFill>
                  <a:schemeClr val="tx1"/>
                </a:solidFill>
              </a:rPr>
              <a:t>is the strongest single method: radio graphs are geometric, so there is always an easy radio to peel off</a:t>
            </a:r>
            <a:endParaRPr lang="en-US" sz="1500" dirty="0"/>
          </a:p>
          <a:p>
            <a:pPr marL="342900" indent="-342900">
              <a:spcAft>
                <a:spcPts val="800"/>
              </a:spcAft>
              <a:buSzPct val="100000"/>
              <a:buChar char="•"/>
            </a:pPr>
            <a:r>
              <a:rPr lang="en-US" sz="1500" b="1" dirty="0">
                <a:solidFill>
                  <a:schemeClr val="tx1"/>
                </a:solidFill>
              </a:rPr>
              <a:t>Combined pipeline: </a:t>
            </a:r>
            <a:pPr indent="0" marL="0">
              <a:spcAft>
                <a:spcPts val="800"/>
              </a:spcAft>
              <a:buNone/>
            </a:pPr>
            <a:r>
              <a:rPr lang="en-US" sz="1500" dirty="0">
                <a:solidFill>
                  <a:schemeClr val="tx1"/>
                </a:solidFill>
              </a:rPr>
              <a:t>100% proven optimal, 125 ms at 150 radios</a:t>
            </a:r>
            <a:endParaRPr lang="en-US" sz="1500" dirty="0"/>
          </a:p>
          <a:p>
            <a:pPr marL="342900" indent="-342900">
              <a:spcAft>
                <a:spcPts val="800"/>
              </a:spcAft>
              <a:buSzPct val="100000"/>
              <a:buChar char="•"/>
            </a:pPr>
            <a:r>
              <a:rPr lang="en-US" sz="1500" b="1" dirty="0">
                <a:solidFill>
                  <a:schemeClr val="tx1"/>
                </a:solidFill>
              </a:rPr>
              <a:t>Honest note: </a:t>
            </a:r>
            <a:pPr indent="0" marL="0">
              <a:spcAft>
                <a:spcPts val="800"/>
              </a:spcAft>
              <a:buNone/>
            </a:pPr>
            <a:r>
              <a:rPr lang="en-US" sz="1500" dirty="0">
                <a:solidFill>
                  <a:schemeClr val="tx1"/>
                </a:solidFill>
              </a:rPr>
              <a:t>here the extra steps act mostly as a safety net and a proof</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lot chip"/>
          <p:cNvSpPr txBox="1"/>
          <p:nvPr/>
        </p:nvSpPr>
        <p:spPr>
          <a:xfrm>
            <a:off x="548640" y="347472"/>
            <a:ext cx="3858768" cy="292608"/>
          </a:xfrm>
          <a:prstGeom prst="roundRect">
            <a:avLst>
              <a:gd name="adj" fmla="val 25000"/>
            </a:avLst>
          </a:prstGeom>
          <a:solidFill>
            <a:schemeClr val="accent1"/>
          </a:solidFill>
          <a:ln/>
        </p:spPr>
        <p:txBody>
          <a:bodyPr wrap="square" lIns="0" tIns="0" rIns="0" bIns="0" rtlCol="0" anchor="ctr"/>
          <a:lstStyle/>
          <a:p>
            <a:pPr algn="ctr" indent="0" marL="0">
              <a:buNone/>
            </a:pPr>
            <a:r>
              <a:rPr lang="en-US" sz="1100" b="1" spc="100" kern="0" dirty="0">
                <a:solidFill>
                  <a:schemeClr val="tx1"/>
                </a:solidFill>
              </a:rPr>
              <a:t>SLOT 08  ·  PART 2 · THE ENGINE</a:t>
            </a:r>
            <a:endParaRPr lang="en-US" sz="1100" dirty="0"/>
          </a:p>
        </p:txBody>
      </p:sp>
      <p:sp>
        <p:nvSpPr>
          <p:cNvPr id="3" name="Text 0"/>
          <p:cNvSpPr/>
          <p:nvPr>
            <p:ph idx="100" type="title" hasCustomPrompt="1"/>
          </p:nvPr>
        </p:nvSpPr>
        <p:spPr>
          <a:xfrm>
            <a:off x="548640" y="749808"/>
            <a:ext cx="11064240" cy="731520"/>
          </a:xfrm>
          <a:prstGeom prst="rect">
            <a:avLst/>
          </a:prstGeom>
          <a:noFill/>
          <a:ln/>
        </p:spPr>
        <p:txBody>
          <a:bodyPr wrap="square" lIns="0" tIns="0" rIns="0" bIns="0" rtlCol="0" anchor="t"/>
          <a:lstStyle/>
          <a:p>
            <a:pPr algn="l" indent="0" marL="0">
              <a:buNone/>
            </a:pPr>
            <a:r>
              <a:rPr lang="en-US" sz="3400" b="1" dirty="0">
                <a:solidFill>
                  <a:schemeClr val="tx1"/>
                </a:solidFill>
              </a:rPr>
              <a:t>From schedule matrix to EMANE events</a:t>
            </a:r>
            <a:endParaRPr lang="en-US" sz="3400" dirty="0"/>
          </a:p>
        </p:txBody>
      </p:sp>
      <p:sp>
        <p:nvSpPr>
          <p:cNvPr id="4" name="arch schedule.py"/>
          <p:cNvSpPr/>
          <p:nvPr/>
        </p:nvSpPr>
        <p:spPr>
          <a:xfrm>
            <a:off x="548640" y="1828800"/>
            <a:ext cx="2377440" cy="1371600"/>
          </a:xfrm>
          <a:prstGeom prst="roundRect">
            <a:avLst>
              <a:gd name="adj" fmla="val 8000"/>
            </a:avLst>
          </a:prstGeom>
          <a:solidFill>
            <a:schemeClr val="bg2"/>
          </a:solidFill>
          <a:ln w="12700">
            <a:solidFill>
              <a:schemeClr val="bg2"/>
            </a:solidFill>
            <a:prstDash val="solid"/>
          </a:ln>
        </p:spPr>
      </p:sp>
      <p:sp>
        <p:nvSpPr>
          <p:cNvPr id="5" name="Text 3"/>
          <p:cNvSpPr txBox="1"/>
          <p:nvPr/>
        </p:nvSpPr>
        <p:spPr>
          <a:xfrm>
            <a:off x="731520" y="2011680"/>
            <a:ext cx="2011680" cy="411480"/>
          </a:xfrm>
          <a:prstGeom prst="rect">
            <a:avLst/>
          </a:prstGeom>
          <a:noFill/>
          <a:ln/>
        </p:spPr>
        <p:txBody>
          <a:bodyPr wrap="square" lIns="0" tIns="0" rIns="0" bIns="0" rtlCol="0" anchor="ctr"/>
          <a:lstStyle/>
          <a:p>
            <a:pPr indent="0" marL="0">
              <a:buNone/>
            </a:pPr>
            <a:r>
              <a:rPr lang="en-US" sz="1800" b="1" dirty="0">
                <a:solidFill>
                  <a:schemeClr val="tx1"/>
                </a:solidFill>
              </a:rPr>
              <a:t>schedule.py</a:t>
            </a:r>
            <a:endParaRPr lang="en-US" sz="1800" dirty="0"/>
          </a:p>
        </p:txBody>
      </p:sp>
      <p:sp>
        <p:nvSpPr>
          <p:cNvPr id="6" name="Text 4"/>
          <p:cNvSpPr txBox="1"/>
          <p:nvPr/>
        </p:nvSpPr>
        <p:spPr>
          <a:xfrm>
            <a:off x="731520" y="2468880"/>
            <a:ext cx="2011680" cy="548640"/>
          </a:xfrm>
          <a:prstGeom prst="rect">
            <a:avLst/>
          </a:prstGeom>
          <a:noFill/>
          <a:ln/>
        </p:spPr>
        <p:txBody>
          <a:bodyPr wrap="square" lIns="0" tIns="0" rIns="0" bIns="0" rtlCol="0" anchor="ctr"/>
          <a:lstStyle/>
          <a:p>
            <a:pPr indent="0" marL="0">
              <a:buNone/>
            </a:pPr>
            <a:r>
              <a:rPr lang="en-US" sz="1400" dirty="0">
                <a:solidFill>
                  <a:schemeClr val="tx2"/>
                </a:solidFill>
              </a:rPr>
              <a:t>Part 1 brain</a:t>
            </a:r>
            <a:endParaRPr lang="en-US" sz="1400" dirty="0"/>
          </a:p>
        </p:txBody>
      </p:sp>
      <p:sp>
        <p:nvSpPr>
          <p:cNvPr id="7" name="Text 5"/>
          <p:cNvSpPr txBox="1"/>
          <p:nvPr/>
        </p:nvSpPr>
        <p:spPr>
          <a:xfrm>
            <a:off x="2926080" y="2194560"/>
            <a:ext cx="411480" cy="548640"/>
          </a:xfrm>
          <a:prstGeom prst="rect">
            <a:avLst/>
          </a:prstGeom>
          <a:noFill/>
          <a:ln/>
        </p:spPr>
        <p:txBody>
          <a:bodyPr wrap="square" lIns="0" tIns="0" rIns="0" bIns="0" rtlCol="0" anchor="ctr"/>
          <a:lstStyle/>
          <a:p>
            <a:pPr algn="ctr" indent="0" marL="0">
              <a:buNone/>
            </a:pPr>
            <a:r>
              <a:rPr lang="en-US" sz="2600" b="1" dirty="0">
                <a:solidFill>
                  <a:schemeClr val="accent1"/>
                </a:solidFill>
              </a:rPr>
              <a:t>→</a:t>
            </a:r>
            <a:endParaRPr lang="en-US" sz="2600" dirty="0"/>
          </a:p>
        </p:txBody>
      </p:sp>
      <p:sp>
        <p:nvSpPr>
          <p:cNvPr id="8" name="arch bridge.py"/>
          <p:cNvSpPr/>
          <p:nvPr/>
        </p:nvSpPr>
        <p:spPr>
          <a:xfrm>
            <a:off x="3337560" y="1828800"/>
            <a:ext cx="2377440" cy="1371600"/>
          </a:xfrm>
          <a:prstGeom prst="roundRect">
            <a:avLst>
              <a:gd name="adj" fmla="val 8000"/>
            </a:avLst>
          </a:prstGeom>
          <a:solidFill>
            <a:schemeClr val="bg2"/>
          </a:solidFill>
          <a:ln w="12700">
            <a:solidFill>
              <a:schemeClr val="bg2"/>
            </a:solidFill>
            <a:prstDash val="solid"/>
          </a:ln>
        </p:spPr>
      </p:sp>
      <p:sp>
        <p:nvSpPr>
          <p:cNvPr id="9" name="Text 7"/>
          <p:cNvSpPr txBox="1"/>
          <p:nvPr/>
        </p:nvSpPr>
        <p:spPr>
          <a:xfrm>
            <a:off x="3520440" y="2011680"/>
            <a:ext cx="2011680" cy="411480"/>
          </a:xfrm>
          <a:prstGeom prst="rect">
            <a:avLst/>
          </a:prstGeom>
          <a:noFill/>
          <a:ln/>
        </p:spPr>
        <p:txBody>
          <a:bodyPr wrap="square" lIns="0" tIns="0" rIns="0" bIns="0" rtlCol="0" anchor="ctr"/>
          <a:lstStyle/>
          <a:p>
            <a:pPr indent="0" marL="0">
              <a:buNone/>
            </a:pPr>
            <a:r>
              <a:rPr lang="en-US" sz="1800" b="1" dirty="0">
                <a:solidFill>
                  <a:schemeClr val="tx1"/>
                </a:solidFill>
              </a:rPr>
              <a:t>bridge.py</a:t>
            </a:r>
            <a:endParaRPr lang="en-US" sz="1800" dirty="0"/>
          </a:p>
        </p:txBody>
      </p:sp>
      <p:sp>
        <p:nvSpPr>
          <p:cNvPr id="10" name="Text 8"/>
          <p:cNvSpPr txBox="1"/>
          <p:nvPr/>
        </p:nvSpPr>
        <p:spPr>
          <a:xfrm>
            <a:off x="3520440" y="2468880"/>
            <a:ext cx="2011680" cy="548640"/>
          </a:xfrm>
          <a:prstGeom prst="rect">
            <a:avLst/>
          </a:prstGeom>
          <a:noFill/>
          <a:ln/>
        </p:spPr>
        <p:txBody>
          <a:bodyPr wrap="square" lIns="0" tIns="0" rIns="0" bIns="0" rtlCol="0" anchor="ctr"/>
          <a:lstStyle/>
          <a:p>
            <a:pPr indent="0" marL="0">
              <a:buNone/>
            </a:pPr>
            <a:r>
              <a:rPr lang="en-US" sz="1400" dirty="0">
                <a:solidFill>
                  <a:schemeClr val="tx2"/>
                </a:solidFill>
              </a:rPr>
              <a:t>JSON → EMANE files</a:t>
            </a:r>
            <a:endParaRPr lang="en-US" sz="1400" dirty="0"/>
          </a:p>
        </p:txBody>
      </p:sp>
      <p:sp>
        <p:nvSpPr>
          <p:cNvPr id="11" name="Text 9"/>
          <p:cNvSpPr txBox="1"/>
          <p:nvPr/>
        </p:nvSpPr>
        <p:spPr>
          <a:xfrm>
            <a:off x="5715000" y="2194560"/>
            <a:ext cx="411480" cy="548640"/>
          </a:xfrm>
          <a:prstGeom prst="rect">
            <a:avLst/>
          </a:prstGeom>
          <a:noFill/>
          <a:ln/>
        </p:spPr>
        <p:txBody>
          <a:bodyPr wrap="square" lIns="0" tIns="0" rIns="0" bIns="0" rtlCol="0" anchor="ctr"/>
          <a:lstStyle/>
          <a:p>
            <a:pPr algn="ctr" indent="0" marL="0">
              <a:buNone/>
            </a:pPr>
            <a:r>
              <a:rPr lang="en-US" sz="2600" b="1" dirty="0">
                <a:solidFill>
                  <a:schemeClr val="accent1"/>
                </a:solidFill>
              </a:rPr>
              <a:t>→</a:t>
            </a:r>
            <a:endParaRPr lang="en-US" sz="2600" dirty="0"/>
          </a:p>
        </p:txBody>
      </p:sp>
      <p:sp>
        <p:nvSpPr>
          <p:cNvPr id="12" name="arch EMANE events"/>
          <p:cNvSpPr/>
          <p:nvPr/>
        </p:nvSpPr>
        <p:spPr>
          <a:xfrm>
            <a:off x="6126480" y="1828800"/>
            <a:ext cx="2377440" cy="1371600"/>
          </a:xfrm>
          <a:prstGeom prst="roundRect">
            <a:avLst>
              <a:gd name="adj" fmla="val 8000"/>
            </a:avLst>
          </a:prstGeom>
          <a:solidFill>
            <a:schemeClr val="bg2"/>
          </a:solidFill>
          <a:ln w="12700">
            <a:solidFill>
              <a:schemeClr val="bg2"/>
            </a:solidFill>
            <a:prstDash val="solid"/>
          </a:ln>
        </p:spPr>
      </p:sp>
      <p:sp>
        <p:nvSpPr>
          <p:cNvPr id="13" name="Text 11"/>
          <p:cNvSpPr txBox="1"/>
          <p:nvPr/>
        </p:nvSpPr>
        <p:spPr>
          <a:xfrm>
            <a:off x="6309360" y="2011680"/>
            <a:ext cx="2011680" cy="411480"/>
          </a:xfrm>
          <a:prstGeom prst="rect">
            <a:avLst/>
          </a:prstGeom>
          <a:noFill/>
          <a:ln/>
        </p:spPr>
        <p:txBody>
          <a:bodyPr wrap="square" lIns="0" tIns="0" rIns="0" bIns="0" rtlCol="0" anchor="ctr"/>
          <a:lstStyle/>
          <a:p>
            <a:pPr indent="0" marL="0">
              <a:buNone/>
            </a:pPr>
            <a:r>
              <a:rPr lang="en-US" sz="1800" b="1" dirty="0">
                <a:solidFill>
                  <a:schemeClr val="tx1"/>
                </a:solidFill>
              </a:rPr>
              <a:t>EMANE events</a:t>
            </a:r>
            <a:endParaRPr lang="en-US" sz="1800" dirty="0"/>
          </a:p>
        </p:txBody>
      </p:sp>
      <p:sp>
        <p:nvSpPr>
          <p:cNvPr id="14" name="Text 12"/>
          <p:cNvSpPr txBox="1"/>
          <p:nvPr/>
        </p:nvSpPr>
        <p:spPr>
          <a:xfrm>
            <a:off x="6309360" y="2468880"/>
            <a:ext cx="2011680" cy="548640"/>
          </a:xfrm>
          <a:prstGeom prst="rect">
            <a:avLst/>
          </a:prstGeom>
          <a:noFill/>
          <a:ln/>
        </p:spPr>
        <p:txBody>
          <a:bodyPr wrap="square" lIns="0" tIns="0" rIns="0" bIns="0" rtlCol="0" anchor="ctr"/>
          <a:lstStyle/>
          <a:p>
            <a:pPr indent="0" marL="0">
              <a:buNone/>
            </a:pPr>
            <a:r>
              <a:rPr lang="en-US" sz="1400" dirty="0">
                <a:solidFill>
                  <a:schemeClr val="tx2"/>
                </a:solidFill>
              </a:rPr>
              <a:t>schedule + pathloss</a:t>
            </a:r>
            <a:endParaRPr lang="en-US" sz="1400" dirty="0"/>
          </a:p>
        </p:txBody>
      </p:sp>
      <p:sp>
        <p:nvSpPr>
          <p:cNvPr id="15" name="Text 13"/>
          <p:cNvSpPr txBox="1"/>
          <p:nvPr/>
        </p:nvSpPr>
        <p:spPr>
          <a:xfrm>
            <a:off x="8503920" y="2194560"/>
            <a:ext cx="411480" cy="548640"/>
          </a:xfrm>
          <a:prstGeom prst="rect">
            <a:avLst/>
          </a:prstGeom>
          <a:noFill/>
          <a:ln/>
        </p:spPr>
        <p:txBody>
          <a:bodyPr wrap="square" lIns="0" tIns="0" rIns="0" bIns="0" rtlCol="0" anchor="ctr"/>
          <a:lstStyle/>
          <a:p>
            <a:pPr algn="ctr" indent="0" marL="0">
              <a:buNone/>
            </a:pPr>
            <a:r>
              <a:rPr lang="en-US" sz="2600" b="1" dirty="0">
                <a:solidFill>
                  <a:schemeClr val="accent1"/>
                </a:solidFill>
              </a:rPr>
              <a:t>→</a:t>
            </a:r>
            <a:endParaRPr lang="en-US" sz="2600" dirty="0"/>
          </a:p>
        </p:txBody>
      </p:sp>
      <p:sp>
        <p:nvSpPr>
          <p:cNvPr id="16" name="arch 16 NEMs"/>
          <p:cNvSpPr/>
          <p:nvPr/>
        </p:nvSpPr>
        <p:spPr>
          <a:xfrm>
            <a:off x="8915400" y="1828800"/>
            <a:ext cx="2377440" cy="1371600"/>
          </a:xfrm>
          <a:prstGeom prst="roundRect">
            <a:avLst>
              <a:gd name="adj" fmla="val 8000"/>
            </a:avLst>
          </a:prstGeom>
          <a:solidFill>
            <a:srgbClr val="E3F4F6"/>
          </a:solidFill>
          <a:ln w="12700">
            <a:solidFill>
              <a:srgbClr val="E3F4F6"/>
            </a:solidFill>
            <a:prstDash val="solid"/>
          </a:ln>
        </p:spPr>
      </p:sp>
      <p:sp>
        <p:nvSpPr>
          <p:cNvPr id="17" name="Text 15"/>
          <p:cNvSpPr txBox="1"/>
          <p:nvPr/>
        </p:nvSpPr>
        <p:spPr>
          <a:xfrm>
            <a:off x="9098280" y="2011680"/>
            <a:ext cx="2011680" cy="411480"/>
          </a:xfrm>
          <a:prstGeom prst="rect">
            <a:avLst/>
          </a:prstGeom>
          <a:noFill/>
          <a:ln/>
        </p:spPr>
        <p:txBody>
          <a:bodyPr wrap="square" lIns="0" tIns="0" rIns="0" bIns="0" rtlCol="0" anchor="ctr"/>
          <a:lstStyle/>
          <a:p>
            <a:pPr indent="0" marL="0">
              <a:buNone/>
            </a:pPr>
            <a:r>
              <a:rPr lang="en-US" sz="1800" b="1" dirty="0">
                <a:solidFill>
                  <a:schemeClr val="tx1"/>
                </a:solidFill>
              </a:rPr>
              <a:t>16 NEMs</a:t>
            </a:r>
            <a:endParaRPr lang="en-US" sz="1800" dirty="0"/>
          </a:p>
        </p:txBody>
      </p:sp>
      <p:sp>
        <p:nvSpPr>
          <p:cNvPr id="18" name="Text 16"/>
          <p:cNvSpPr txBox="1"/>
          <p:nvPr/>
        </p:nvSpPr>
        <p:spPr>
          <a:xfrm>
            <a:off x="9098280" y="2468880"/>
            <a:ext cx="2011680" cy="548640"/>
          </a:xfrm>
          <a:prstGeom prst="rect">
            <a:avLst/>
          </a:prstGeom>
          <a:noFill/>
          <a:ln/>
        </p:spPr>
        <p:txBody>
          <a:bodyPr wrap="square" lIns="0" tIns="0" rIns="0" bIns="0" rtlCol="0" anchor="ctr"/>
          <a:lstStyle/>
          <a:p>
            <a:pPr indent="0" marL="0">
              <a:buNone/>
            </a:pPr>
            <a:r>
              <a:rPr lang="en-US" sz="1400" dirty="0">
                <a:solidFill>
                  <a:schemeClr val="tx2"/>
                </a:solidFill>
              </a:rPr>
              <a:t>one namespace per radio</a:t>
            </a:r>
            <a:endParaRPr lang="en-US" sz="1400" dirty="0"/>
          </a:p>
        </p:txBody>
      </p:sp>
      <p:sp>
        <p:nvSpPr>
          <p:cNvPr id="19" name="Text 17"/>
          <p:cNvSpPr txBox="1"/>
          <p:nvPr/>
        </p:nvSpPr>
        <p:spPr>
          <a:xfrm>
            <a:off x="548640" y="3520440"/>
            <a:ext cx="6126480" cy="2194560"/>
          </a:xfrm>
          <a:prstGeom prst="rect">
            <a:avLst/>
          </a:prstGeom>
          <a:solidFill>
            <a:schemeClr val="bg2"/>
          </a:solidFill>
          <a:ln/>
        </p:spPr>
        <p:txBody>
          <a:bodyPr wrap="square" lIns="2540" tIns="2540" rIns="2540" bIns="2540" rtlCol="0" anchor="t"/>
          <a:lstStyle/>
          <a:p>
            <a:pPr indent="0" marL="0">
              <a:buNone/>
            </a:pPr>
            <a:r>
              <a:rPr lang="en-US" sz="1300" dirty="0">
                <a:solidFill>
                  <a:schemeClr val="tx1"/>
                </a:solidFill>
                <a:latin typeface="Courier New" pitchFamily="34" charset="0"/>
                <a:ea typeface="Courier New" pitchFamily="34" charset="-122"/>
                <a:cs typeface="Courier New" pitchFamily="34" charset="-120"/>
              </a:rPr>
              <a:t>&lt;emane-tdma-schedule&gt;</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  &lt;structure frames="1" slots="9" slotduration="1000" .../&gt;</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  &lt;multiframe frequency="2.4G" datarate="10M" ...&gt;</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    &lt;frame index="0"&gt;</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      &lt;slot index="0" nodes="1,4,13,16"/&gt;   ← spatial reuse</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      &lt;slot index="1" nodes="2,14"/&gt;</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      ...</a:t>
            </a:r>
            <a:endParaRPr lang="en-US" sz="1300" dirty="0"/>
          </a:p>
        </p:txBody>
      </p:sp>
      <p:sp>
        <p:nvSpPr>
          <p:cNvPr id="20" name="Text 18"/>
          <p:cNvSpPr txBox="1"/>
          <p:nvPr/>
        </p:nvSpPr>
        <p:spPr>
          <a:xfrm>
            <a:off x="6995160" y="3520440"/>
            <a:ext cx="4617720" cy="2651760"/>
          </a:xfrm>
          <a:prstGeom prst="rect">
            <a:avLst/>
          </a:prstGeom>
          <a:noFill/>
          <a:ln/>
        </p:spPr>
        <p:txBody>
          <a:bodyPr wrap="square" lIns="0" tIns="0" rIns="0" bIns="0" rtlCol="0" anchor="t"/>
          <a:lstStyle/>
          <a:p>
            <a:pPr marL="342900" indent="-342900">
              <a:spcAft>
                <a:spcPts val="800"/>
              </a:spcAft>
              <a:buSzPct val="100000"/>
              <a:buChar char="•"/>
            </a:pPr>
            <a:r>
              <a:rPr lang="en-US" sz="1400" b="1" dirty="0">
                <a:solidFill>
                  <a:schemeClr val="tx1"/>
                </a:solidFill>
              </a:rPr>
              <a:t>TDMA model: </a:t>
            </a:r>
            <a:pPr indent="0" marL="0">
              <a:spcAft>
                <a:spcPts val="800"/>
              </a:spcAft>
              <a:buNone/>
            </a:pPr>
            <a:r>
              <a:rPr lang="en-US" sz="1400" dirty="0">
                <a:solidFill>
                  <a:schemeClr val="tx1"/>
                </a:solidFill>
              </a:rPr>
              <a:t>tdmaeventschedulerradiomodel. Sends only in given slots, listens otherwise</a:t>
            </a:r>
            <a:endParaRPr lang="en-US" sz="1400" dirty="0"/>
          </a:p>
          <a:p>
            <a:pPr marL="342900" indent="-342900">
              <a:spcAft>
                <a:spcPts val="800"/>
              </a:spcAft>
              <a:buSzPct val="100000"/>
              <a:buChar char="•"/>
            </a:pPr>
            <a:r>
              <a:rPr lang="en-US" sz="1400" b="1" dirty="0">
                <a:solidFill>
                  <a:schemeClr val="tx1"/>
                </a:solidFill>
              </a:rPr>
              <a:t>1 ms slots, </a:t>
            </a:r>
            <a:pPr indent="0" marL="0">
              <a:spcAft>
                <a:spcPts val="800"/>
              </a:spcAft>
              <a:buNone/>
            </a:pPr>
            <a:r>
              <a:rPr lang="en-US" sz="1400" dirty="0">
                <a:solidFill>
                  <a:schemeClr val="tx1"/>
                </a:solidFill>
              </a:rPr>
              <a:t>one shared 2.4 GHz channel, frame = our slot count</a:t>
            </a:r>
            <a:endParaRPr lang="en-US" sz="1400" dirty="0"/>
          </a:p>
          <a:p>
            <a:pPr marL="342900" indent="-342900">
              <a:spcAft>
                <a:spcPts val="800"/>
              </a:spcAft>
              <a:buSzPct val="100000"/>
              <a:buChar char="•"/>
            </a:pPr>
            <a:r>
              <a:rPr lang="en-US" sz="1400" b="1" dirty="0">
                <a:solidFill>
                  <a:schemeClr val="tx1"/>
                </a:solidFill>
              </a:rPr>
              <a:t>Pathloss events </a:t>
            </a:r>
            <a:pPr indent="0" marL="0">
              <a:spcAft>
                <a:spcPts val="800"/>
              </a:spcAft>
              <a:buNone/>
            </a:pPr>
            <a:r>
              <a:rPr lang="en-US" sz="1400" dirty="0">
                <a:solidFill>
                  <a:schemeClr val="tx1"/>
                </a:solidFill>
              </a:rPr>
              <a:t>from the same 500 m rule, so "in range" matches Part 1 exactly</a:t>
            </a:r>
            <a:endParaRPr lang="en-US" sz="1400" dirty="0"/>
          </a:p>
          <a:p>
            <a:pPr marL="342900" indent="-342900">
              <a:spcAft>
                <a:spcPts val="800"/>
              </a:spcAft>
              <a:buSzPct val="100000"/>
              <a:buChar char="•"/>
            </a:pPr>
            <a:r>
              <a:rPr lang="en-US" sz="1400" b="1" dirty="0">
                <a:solidFill>
                  <a:schemeClr val="tx1"/>
                </a:solidFill>
              </a:rPr>
              <a:t>noisemode = all: </a:t>
            </a:r>
            <a:pPr indent="0" marL="0">
              <a:spcAft>
                <a:spcPts val="800"/>
              </a:spcAft>
              <a:buNone/>
            </a:pPr>
            <a:r>
              <a:rPr lang="en-US" sz="1400" dirty="0">
                <a:solidFill>
                  <a:schemeClr val="tx1"/>
                </a:solidFill>
              </a:rPr>
              <a:t>overlapping signals interfere, so collisions really drop packets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lot chip"/>
          <p:cNvSpPr txBox="1"/>
          <p:nvPr/>
        </p:nvSpPr>
        <p:spPr>
          <a:xfrm>
            <a:off x="548640" y="347472"/>
            <a:ext cx="3200400" cy="292608"/>
          </a:xfrm>
          <a:prstGeom prst="roundRect">
            <a:avLst>
              <a:gd name="adj" fmla="val 25000"/>
            </a:avLst>
          </a:prstGeom>
          <a:solidFill>
            <a:schemeClr val="accent1"/>
          </a:solidFill>
          <a:ln/>
        </p:spPr>
        <p:txBody>
          <a:bodyPr wrap="square" lIns="0" tIns="0" rIns="0" bIns="0" rtlCol="0" anchor="ctr"/>
          <a:lstStyle/>
          <a:p>
            <a:pPr algn="ctr" indent="0" marL="0">
              <a:buNone/>
            </a:pPr>
            <a:r>
              <a:rPr lang="en-US" sz="1100" b="1" spc="100" kern="0" dirty="0">
                <a:solidFill>
                  <a:schemeClr val="tx1"/>
                </a:solidFill>
              </a:rPr>
              <a:t>SLOT 09  ·  EMANE RESULTS</a:t>
            </a:r>
            <a:endParaRPr lang="en-US" sz="1100" dirty="0"/>
          </a:p>
        </p:txBody>
      </p:sp>
      <p:sp>
        <p:nvSpPr>
          <p:cNvPr id="3" name="Text 0"/>
          <p:cNvSpPr/>
          <p:nvPr>
            <p:ph idx="100" type="title" hasCustomPrompt="1"/>
          </p:nvPr>
        </p:nvSpPr>
        <p:spPr>
          <a:xfrm>
            <a:off x="548640" y="749808"/>
            <a:ext cx="11064240" cy="731520"/>
          </a:xfrm>
          <a:prstGeom prst="rect">
            <a:avLst/>
          </a:prstGeom>
          <a:noFill/>
          <a:ln/>
        </p:spPr>
        <p:txBody>
          <a:bodyPr wrap="square" lIns="0" tIns="0" rIns="0" bIns="0" rtlCol="0" anchor="t"/>
          <a:lstStyle/>
          <a:p>
            <a:pPr algn="l" indent="0" marL="0">
              <a:buNone/>
            </a:pPr>
            <a:r>
              <a:rPr lang="en-US" sz="3400" b="1" dirty="0">
                <a:solidFill>
                  <a:schemeClr val="tx1"/>
                </a:solidFill>
              </a:rPr>
              <a:t>EMANE follows the schedule: zero collisions</a:t>
            </a:r>
            <a:endParaRPr lang="en-US" sz="3400" dirty="0"/>
          </a:p>
        </p:txBody>
      </p:sp>
      <p:sp>
        <p:nvSpPr>
          <p:cNvPr id="4" name="experiment"/>
          <p:cNvSpPr/>
          <p:nvPr/>
        </p:nvSpPr>
        <p:spPr>
          <a:xfrm>
            <a:off x="548640" y="1783080"/>
            <a:ext cx="5486400" cy="4160520"/>
          </a:xfrm>
          <a:prstGeom prst="roundRect">
            <a:avLst>
              <a:gd name="adj" fmla="val 2637"/>
            </a:avLst>
          </a:prstGeom>
          <a:solidFill>
            <a:schemeClr val="bg2"/>
          </a:solidFill>
          <a:ln w="12700">
            <a:solidFill>
              <a:schemeClr val="bg2"/>
            </a:solidFill>
            <a:prstDash val="solid"/>
          </a:ln>
        </p:spPr>
      </p:sp>
      <p:sp>
        <p:nvSpPr>
          <p:cNvPr id="5" name="Text 3"/>
          <p:cNvSpPr txBox="1"/>
          <p:nvPr/>
        </p:nvSpPr>
        <p:spPr>
          <a:xfrm>
            <a:off x="822960" y="1965960"/>
            <a:ext cx="4937760" cy="411480"/>
          </a:xfrm>
          <a:prstGeom prst="rect">
            <a:avLst/>
          </a:prstGeom>
          <a:noFill/>
          <a:ln/>
        </p:spPr>
        <p:txBody>
          <a:bodyPr wrap="square" lIns="0" tIns="0" rIns="0" bIns="0" rtlCol="0" anchor="ctr"/>
          <a:lstStyle/>
          <a:p>
            <a:pPr indent="0" marL="0">
              <a:buNone/>
            </a:pPr>
            <a:r>
              <a:rPr lang="en-US" sz="2000" b="1" dirty="0">
                <a:solidFill>
                  <a:schemeClr val="tx1"/>
                </a:solidFill>
              </a:rPr>
              <a:t>The test</a:t>
            </a:r>
            <a:endParaRPr lang="en-US" sz="2000" dirty="0"/>
          </a:p>
        </p:txBody>
      </p:sp>
      <p:sp>
        <p:nvSpPr>
          <p:cNvPr id="6" name="Text 4"/>
          <p:cNvSpPr txBox="1"/>
          <p:nvPr/>
        </p:nvSpPr>
        <p:spPr>
          <a:xfrm>
            <a:off x="822960" y="2514600"/>
            <a:ext cx="4937760" cy="34747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Load our schedule, then every radio pings all its neighbours at the same time</a:t>
            </a:r>
            <a:endParaRPr lang="en-US" sz="1500" dirty="0"/>
          </a:p>
          <a:p>
            <a:pPr marL="342900" indent="-342900">
              <a:spcAft>
                <a:spcPts val="800"/>
              </a:spcAft>
              <a:buSzPct val="100000"/>
              <a:buChar char="•"/>
            </a:pPr>
            <a:r>
              <a:rPr lang="en-US" sz="1500" dirty="0">
                <a:solidFill>
                  <a:schemeClr val="tx1"/>
                </a:solidFill>
              </a:rPr>
              <a:t>Record per-link loss + each NEM's TxSlotStatusTable</a:t>
            </a:r>
            <a:endParaRPr lang="en-US" sz="1500" dirty="0"/>
          </a:p>
          <a:p>
            <a:pPr marL="342900" indent="-342900">
              <a:spcAft>
                <a:spcPts val="800"/>
              </a:spcAft>
              <a:buSzPct val="100000"/>
              <a:buChar char="•"/>
            </a:pPr>
            <a:r>
              <a:rPr lang="en-US" sz="1500" dirty="0">
                <a:solidFill>
                  <a:schemeClr val="tx1"/>
                </a:solidFill>
              </a:rPr>
              <a:t>Repeat with the naive 4-slot schedule (bridge.py --naive)</a:t>
            </a:r>
            <a:endParaRPr lang="en-US" sz="1500" dirty="0"/>
          </a:p>
          <a:p>
            <a:pPr marL="342900" indent="-342900">
              <a:spcAft>
                <a:spcPts val="800"/>
              </a:spcAft>
              <a:buSzPct val="100000"/>
              <a:buChar char="•"/>
            </a:pPr>
            <a:r>
              <a:rPr lang="en-US" sz="1500" b="1" dirty="0">
                <a:solidFill>
                  <a:schemeClr val="tx1"/>
                </a:solidFill>
              </a:rPr>
              <a:t>Each radio sent only in its own slot</a:t>
            </a:r>
            <a:pPr indent="0" marL="0">
              <a:spcAft>
                <a:spcPts val="800"/>
              </a:spcAft>
              <a:buNone/>
            </a:pPr>
            <a:r>
              <a:rPr lang="en-US" sz="1500" dirty="0">
                <a:solidFill>
                  <a:schemeClr val="tx1"/>
                </a:solidFill>
              </a:rPr>
              <a:t> (checked in EMANE's slot tables)</a:t>
            </a:r>
            <a:endParaRPr lang="en-US" sz="1500" dirty="0"/>
          </a:p>
        </p:txBody>
      </p:sp>
      <p:sp>
        <p:nvSpPr>
          <p:cNvPr id="7" name="status 0"/>
          <p:cNvSpPr/>
          <p:nvPr/>
        </p:nvSpPr>
        <p:spPr>
          <a:xfrm>
            <a:off x="6400800" y="1828800"/>
            <a:ext cx="5212080" cy="914400"/>
          </a:xfrm>
          <a:prstGeom prst="roundRect">
            <a:avLst>
              <a:gd name="adj" fmla="val 12000"/>
            </a:avLst>
          </a:prstGeom>
          <a:solidFill>
            <a:schemeClr val="bg2"/>
          </a:solidFill>
          <a:ln w="12700">
            <a:solidFill>
              <a:schemeClr val="bg2"/>
            </a:solidFill>
            <a:prstDash val="solid"/>
          </a:ln>
        </p:spPr>
      </p:sp>
      <p:sp>
        <p:nvSpPr>
          <p:cNvPr id="8" name="status dot 0"/>
          <p:cNvSpPr/>
          <p:nvPr/>
        </p:nvSpPr>
        <p:spPr>
          <a:xfrm>
            <a:off x="6629400" y="2157984"/>
            <a:ext cx="256032" cy="256032"/>
          </a:xfrm>
          <a:prstGeom prst="ellipse">
            <a:avLst/>
          </a:prstGeom>
          <a:solidFill>
            <a:schemeClr val="accent4"/>
          </a:solidFill>
          <a:ln w="12700">
            <a:solidFill>
              <a:schemeClr val="accent4"/>
            </a:solidFill>
            <a:prstDash val="solid"/>
          </a:ln>
        </p:spPr>
      </p:sp>
      <p:sp>
        <p:nvSpPr>
          <p:cNvPr id="9" name="Text 7"/>
          <p:cNvSpPr txBox="1"/>
          <p:nvPr/>
        </p:nvSpPr>
        <p:spPr>
          <a:xfrm>
            <a:off x="7086600" y="1920240"/>
            <a:ext cx="4389120" cy="731520"/>
          </a:xfrm>
          <a:prstGeom prst="rect">
            <a:avLst/>
          </a:prstGeom>
          <a:noFill/>
          <a:ln/>
        </p:spPr>
        <p:txBody>
          <a:bodyPr wrap="square" lIns="0" tIns="0" rIns="0" bIns="0" rtlCol="0" anchor="ctr"/>
          <a:lstStyle/>
          <a:p>
            <a:pPr indent="0" marL="0">
              <a:buNone/>
            </a:pPr>
            <a:r>
              <a:rPr lang="en-US" sz="1400" b="1" dirty="0">
                <a:solidFill>
                  <a:schemeClr val="tx1"/>
                </a:solidFill>
              </a:rPr>
              <a:t>5 ms slots: ours 0.0% loss</a:t>
            </a:r>
            <a:endParaRPr lang="en-US" sz="1400" dirty="0"/>
          </a:p>
          <a:p>
            <a:pPr indent="0" marL="0">
              <a:buNone/>
            </a:pPr>
            <a:r>
              <a:rPr lang="en-US" sz="1400" dirty="0">
                <a:solidFill>
                  <a:schemeClr val="tx2"/>
                </a:solidFill>
              </a:rPr>
              <a:t>All 84 links clean. Naive: 61.4% loss, all collisions</a:t>
            </a:r>
            <a:endParaRPr lang="en-US" sz="1400" dirty="0"/>
          </a:p>
        </p:txBody>
      </p:sp>
      <p:sp>
        <p:nvSpPr>
          <p:cNvPr id="10" name="status 1"/>
          <p:cNvSpPr/>
          <p:nvPr/>
        </p:nvSpPr>
        <p:spPr>
          <a:xfrm>
            <a:off x="6400800" y="2907792"/>
            <a:ext cx="5212080" cy="914400"/>
          </a:xfrm>
          <a:prstGeom prst="roundRect">
            <a:avLst>
              <a:gd name="adj" fmla="val 12000"/>
            </a:avLst>
          </a:prstGeom>
          <a:solidFill>
            <a:schemeClr val="bg2"/>
          </a:solidFill>
          <a:ln w="12700">
            <a:solidFill>
              <a:schemeClr val="bg2"/>
            </a:solidFill>
            <a:prstDash val="solid"/>
          </a:ln>
        </p:spPr>
      </p:sp>
      <p:sp>
        <p:nvSpPr>
          <p:cNvPr id="11" name="status dot 1"/>
          <p:cNvSpPr/>
          <p:nvPr/>
        </p:nvSpPr>
        <p:spPr>
          <a:xfrm>
            <a:off x="6629400" y="3236976"/>
            <a:ext cx="256032" cy="256032"/>
          </a:xfrm>
          <a:prstGeom prst="ellipse">
            <a:avLst/>
          </a:prstGeom>
          <a:solidFill>
            <a:schemeClr val="accent4"/>
          </a:solidFill>
          <a:ln w="12700">
            <a:solidFill>
              <a:schemeClr val="accent4"/>
            </a:solidFill>
            <a:prstDash val="solid"/>
          </a:ln>
        </p:spPr>
      </p:sp>
      <p:sp>
        <p:nvSpPr>
          <p:cNvPr id="12" name="Text 10"/>
          <p:cNvSpPr txBox="1"/>
          <p:nvPr/>
        </p:nvSpPr>
        <p:spPr>
          <a:xfrm>
            <a:off x="7086600" y="2999232"/>
            <a:ext cx="4389120" cy="731520"/>
          </a:xfrm>
          <a:prstGeom prst="rect">
            <a:avLst/>
          </a:prstGeom>
          <a:noFill/>
          <a:ln/>
        </p:spPr>
        <p:txBody>
          <a:bodyPr wrap="square" lIns="0" tIns="0" rIns="0" bIns="0" rtlCol="0" anchor="ctr"/>
          <a:lstStyle/>
          <a:p>
            <a:pPr indent="0" marL="0">
              <a:buNone/>
            </a:pPr>
            <a:r>
              <a:rPr lang="en-US" sz="1400" b="1" dirty="0">
                <a:solidFill>
                  <a:schemeClr val="tx1"/>
                </a:solidFill>
              </a:rPr>
              <a:t>1 ms slots: ours 0 collisions</a:t>
            </a:r>
            <a:endParaRPr lang="en-US" sz="1400" dirty="0"/>
          </a:p>
          <a:p>
            <a:pPr indent="0" marL="0">
              <a:buNone/>
            </a:pPr>
            <a:r>
              <a:rPr lang="en-US" sz="1400" dirty="0">
                <a:solidFill>
                  <a:schemeClr val="tx2"/>
                </a:solidFill>
              </a:rPr>
              <a:t>Naive: 1,078 collision drops, 63.8% loss</a:t>
            </a:r>
            <a:endParaRPr lang="en-US" sz="1400" dirty="0"/>
          </a:p>
        </p:txBody>
      </p:sp>
      <p:sp>
        <p:nvSpPr>
          <p:cNvPr id="13" name="status 2"/>
          <p:cNvSpPr/>
          <p:nvPr/>
        </p:nvSpPr>
        <p:spPr>
          <a:xfrm>
            <a:off x="6400800" y="3986784"/>
            <a:ext cx="5212080" cy="914400"/>
          </a:xfrm>
          <a:prstGeom prst="roundRect">
            <a:avLst>
              <a:gd name="adj" fmla="val 12000"/>
            </a:avLst>
          </a:prstGeom>
          <a:solidFill>
            <a:schemeClr val="bg2"/>
          </a:solidFill>
          <a:ln w="12700">
            <a:solidFill>
              <a:schemeClr val="bg2"/>
            </a:solidFill>
            <a:prstDash val="solid"/>
          </a:ln>
        </p:spPr>
      </p:sp>
      <p:sp>
        <p:nvSpPr>
          <p:cNvPr id="14" name="status dot 2"/>
          <p:cNvSpPr/>
          <p:nvPr/>
        </p:nvSpPr>
        <p:spPr>
          <a:xfrm>
            <a:off x="6629400" y="4315968"/>
            <a:ext cx="256032" cy="256032"/>
          </a:xfrm>
          <a:prstGeom prst="ellipse">
            <a:avLst/>
          </a:prstGeom>
          <a:solidFill>
            <a:schemeClr val="accent1"/>
          </a:solidFill>
          <a:ln w="12700">
            <a:solidFill>
              <a:schemeClr val="accent1"/>
            </a:solidFill>
            <a:prstDash val="solid"/>
          </a:ln>
        </p:spPr>
      </p:sp>
      <p:sp>
        <p:nvSpPr>
          <p:cNvPr id="15" name="Text 13"/>
          <p:cNvSpPr txBox="1"/>
          <p:nvPr/>
        </p:nvSpPr>
        <p:spPr>
          <a:xfrm>
            <a:off x="7086600" y="4078224"/>
            <a:ext cx="4389120" cy="731520"/>
          </a:xfrm>
          <a:prstGeom prst="rect">
            <a:avLst/>
          </a:prstGeom>
          <a:noFill/>
          <a:ln/>
        </p:spPr>
        <p:txBody>
          <a:bodyPr wrap="square" lIns="0" tIns="0" rIns="0" bIns="0" rtlCol="0" anchor="ctr"/>
          <a:lstStyle/>
          <a:p>
            <a:pPr indent="0" marL="0">
              <a:buNone/>
            </a:pPr>
            <a:r>
              <a:rPr lang="en-US" sz="1400" b="1" dirty="0">
                <a:solidFill>
                  <a:schemeClr val="tx1"/>
                </a:solidFill>
              </a:rPr>
              <a:t>Ours still lost 9.9% at 1 ms</a:t>
            </a:r>
            <a:endParaRPr lang="en-US" sz="1400" dirty="0"/>
          </a:p>
          <a:p>
            <a:pPr indent="0" marL="0">
              <a:buNone/>
            </a:pPr>
            <a:r>
              <a:rPr lang="en-US" sz="1400" dirty="0">
                <a:solidFill>
                  <a:schemeClr val="tx2"/>
                </a:solidFill>
              </a:rPr>
              <a:t>Every drop was late arrival: 16 radios on 2 CPU cores</a:t>
            </a:r>
            <a:endParaRPr lang="en-US" sz="1400" dirty="0"/>
          </a:p>
        </p:txBody>
      </p:sp>
      <p:sp>
        <p:nvSpPr>
          <p:cNvPr id="16" name="status 3"/>
          <p:cNvSpPr/>
          <p:nvPr/>
        </p:nvSpPr>
        <p:spPr>
          <a:xfrm>
            <a:off x="6400800" y="5065776"/>
            <a:ext cx="5212080" cy="914400"/>
          </a:xfrm>
          <a:prstGeom prst="roundRect">
            <a:avLst>
              <a:gd name="adj" fmla="val 12000"/>
            </a:avLst>
          </a:prstGeom>
          <a:solidFill>
            <a:schemeClr val="bg2"/>
          </a:solidFill>
          <a:ln w="12700">
            <a:solidFill>
              <a:schemeClr val="bg2"/>
            </a:solidFill>
            <a:prstDash val="solid"/>
          </a:ln>
        </p:spPr>
      </p:sp>
      <p:sp>
        <p:nvSpPr>
          <p:cNvPr id="17" name="status dot 3"/>
          <p:cNvSpPr/>
          <p:nvPr/>
        </p:nvSpPr>
        <p:spPr>
          <a:xfrm>
            <a:off x="6629400" y="5394960"/>
            <a:ext cx="256032" cy="256032"/>
          </a:xfrm>
          <a:prstGeom prst="ellipse">
            <a:avLst/>
          </a:prstGeom>
          <a:solidFill>
            <a:schemeClr val="accent2"/>
          </a:solidFill>
          <a:ln w="12700">
            <a:solidFill>
              <a:schemeClr val="accent2"/>
            </a:solidFill>
            <a:prstDash val="solid"/>
          </a:ln>
        </p:spPr>
      </p:sp>
      <p:sp>
        <p:nvSpPr>
          <p:cNvPr id="18" name="Text 16"/>
          <p:cNvSpPr txBox="1"/>
          <p:nvPr/>
        </p:nvSpPr>
        <p:spPr>
          <a:xfrm>
            <a:off x="7086600" y="5157216"/>
            <a:ext cx="4389120" cy="731520"/>
          </a:xfrm>
          <a:prstGeom prst="rect">
            <a:avLst/>
          </a:prstGeom>
          <a:noFill/>
          <a:ln/>
        </p:spPr>
        <p:txBody>
          <a:bodyPr wrap="square" lIns="0" tIns="0" rIns="0" bIns="0" rtlCol="0" anchor="ctr"/>
          <a:lstStyle/>
          <a:p>
            <a:pPr indent="0" marL="0">
              <a:buNone/>
            </a:pPr>
            <a:r>
              <a:rPr lang="en-US" sz="1400" b="1" dirty="0">
                <a:solidFill>
                  <a:schemeClr val="tx1"/>
                </a:solidFill>
              </a:rPr>
              <a:t>Proof that it is the laptop</a:t>
            </a:r>
            <a:endParaRPr lang="en-US" sz="1400" dirty="0"/>
          </a:p>
          <a:p>
            <a:pPr indent="0" marL="0">
              <a:buNone/>
            </a:pPr>
            <a:r>
              <a:rPr lang="en-US" sz="1400" dirty="0">
                <a:solidFill>
                  <a:schemeClr val="tx2"/>
                </a:solidFill>
              </a:rPr>
              <a:t>Same test with 5 ms slots: loss went to zero</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lot chip"/>
          <p:cNvSpPr txBox="1"/>
          <p:nvPr/>
        </p:nvSpPr>
        <p:spPr>
          <a:xfrm>
            <a:off x="548640" y="347472"/>
            <a:ext cx="2542032" cy="292608"/>
          </a:xfrm>
          <a:prstGeom prst="roundRect">
            <a:avLst>
              <a:gd name="adj" fmla="val 25000"/>
            </a:avLst>
          </a:prstGeom>
          <a:solidFill>
            <a:schemeClr val="accent1"/>
          </a:solidFill>
          <a:ln/>
        </p:spPr>
        <p:txBody>
          <a:bodyPr wrap="square" lIns="0" tIns="0" rIns="0" bIns="0" rtlCol="0" anchor="ctr"/>
          <a:lstStyle/>
          <a:p>
            <a:pPr algn="ctr" indent="0" marL="0">
              <a:buNone/>
            </a:pPr>
            <a:r>
              <a:rPr lang="en-US" sz="1100" b="1" spc="100" kern="0" dirty="0">
                <a:solidFill>
                  <a:schemeClr val="tx1"/>
                </a:solidFill>
              </a:rPr>
              <a:t>SLOT 10  ·  TESTING</a:t>
            </a:r>
            <a:endParaRPr lang="en-US" sz="1100" dirty="0"/>
          </a:p>
        </p:txBody>
      </p:sp>
      <p:sp>
        <p:nvSpPr>
          <p:cNvPr id="3" name="Text 0"/>
          <p:cNvSpPr/>
          <p:nvPr>
            <p:ph idx="100" type="title" hasCustomPrompt="1"/>
          </p:nvPr>
        </p:nvSpPr>
        <p:spPr>
          <a:xfrm>
            <a:off x="548640" y="749808"/>
            <a:ext cx="11064240" cy="731520"/>
          </a:xfrm>
          <a:prstGeom prst="rect">
            <a:avLst/>
          </a:prstGeom>
          <a:noFill/>
          <a:ln/>
        </p:spPr>
        <p:txBody>
          <a:bodyPr wrap="square" lIns="0" tIns="0" rIns="0" bIns="0" rtlCol="0" anchor="t"/>
          <a:lstStyle/>
          <a:p>
            <a:pPr algn="l" indent="0" marL="0">
              <a:buNone/>
            </a:pPr>
            <a:r>
              <a:rPr lang="en-US" sz="3400" b="1" dirty="0">
                <a:solidFill>
                  <a:schemeClr val="tx1"/>
                </a:solidFill>
              </a:rPr>
              <a:t>How I know it works</a:t>
            </a:r>
            <a:endParaRPr lang="en-US" sz="3400" dirty="0"/>
          </a:p>
        </p:txBody>
      </p:sp>
      <p:sp>
        <p:nvSpPr>
          <p:cNvPr id="4" name="test Brief's cases"/>
          <p:cNvSpPr/>
          <p:nvPr/>
        </p:nvSpPr>
        <p:spPr>
          <a:xfrm>
            <a:off x="548640" y="1828800"/>
            <a:ext cx="3520440" cy="1874520"/>
          </a:xfrm>
          <a:prstGeom prst="roundRect">
            <a:avLst>
              <a:gd name="adj" fmla="val 5854"/>
            </a:avLst>
          </a:prstGeom>
          <a:solidFill>
            <a:schemeClr val="bg2"/>
          </a:solidFill>
          <a:ln w="12700">
            <a:solidFill>
              <a:schemeClr val="bg2"/>
            </a:solidFill>
            <a:prstDash val="solid"/>
          </a:ln>
        </p:spPr>
      </p:sp>
      <p:sp>
        <p:nvSpPr>
          <p:cNvPr id="5" name="Text 3"/>
          <p:cNvSpPr txBox="1"/>
          <p:nvPr/>
        </p:nvSpPr>
        <p:spPr>
          <a:xfrm>
            <a:off x="822960" y="2103120"/>
            <a:ext cx="457200" cy="457200"/>
          </a:xfrm>
          <a:prstGeom prst="ellipse">
            <a:avLst/>
          </a:prstGeom>
          <a:solidFill>
            <a:schemeClr val="accent4"/>
          </a:solid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6" name="Text 4"/>
          <p:cNvSpPr txBox="1"/>
          <p:nvPr/>
        </p:nvSpPr>
        <p:spPr>
          <a:xfrm>
            <a:off x="1417320" y="2103120"/>
            <a:ext cx="2468880" cy="457200"/>
          </a:xfrm>
          <a:prstGeom prst="rect">
            <a:avLst/>
          </a:prstGeom>
          <a:noFill/>
          <a:ln/>
        </p:spPr>
        <p:txBody>
          <a:bodyPr wrap="square" lIns="0" tIns="0" rIns="0" bIns="0" rtlCol="0" anchor="ctr"/>
          <a:lstStyle/>
          <a:p>
            <a:pPr indent="0" marL="0">
              <a:buNone/>
            </a:pPr>
            <a:r>
              <a:rPr lang="en-US" sz="1800" b="1" dirty="0">
                <a:solidFill>
                  <a:schemeClr val="tx1"/>
                </a:solidFill>
              </a:rPr>
              <a:t>Brief's cases</a:t>
            </a:r>
            <a:endParaRPr lang="en-US" sz="1800" dirty="0"/>
          </a:p>
        </p:txBody>
      </p:sp>
      <p:sp>
        <p:nvSpPr>
          <p:cNvPr id="7" name="Text 5"/>
          <p:cNvSpPr txBox="1"/>
          <p:nvPr/>
        </p:nvSpPr>
        <p:spPr>
          <a:xfrm>
            <a:off x="822960" y="2697480"/>
            <a:ext cx="3017520" cy="868680"/>
          </a:xfrm>
          <a:prstGeom prst="rect">
            <a:avLst/>
          </a:prstGeom>
          <a:noFill/>
          <a:ln/>
        </p:spPr>
        <p:txBody>
          <a:bodyPr wrap="square" lIns="0" tIns="0" rIns="0" bIns="0" rtlCol="0" anchor="t"/>
          <a:lstStyle/>
          <a:p>
            <a:pPr indent="0" marL="0">
              <a:buNone/>
            </a:pPr>
            <a:r>
              <a:rPr lang="en-US" sz="1400" dirty="0">
                <a:solidFill>
                  <a:schemeClr val="tx2"/>
                </a:solidFill>
              </a:rPr>
              <a:t>Direct link, hidden terminal (A→B←C), 3-hop reuse</a:t>
            </a:r>
            <a:endParaRPr lang="en-US" sz="1400" dirty="0"/>
          </a:p>
        </p:txBody>
      </p:sp>
      <p:sp>
        <p:nvSpPr>
          <p:cNvPr id="8" name="test Known answer"/>
          <p:cNvSpPr/>
          <p:nvPr/>
        </p:nvSpPr>
        <p:spPr>
          <a:xfrm>
            <a:off x="4297680" y="1828800"/>
            <a:ext cx="3520440" cy="1874520"/>
          </a:xfrm>
          <a:prstGeom prst="roundRect">
            <a:avLst>
              <a:gd name="adj" fmla="val 5854"/>
            </a:avLst>
          </a:prstGeom>
          <a:solidFill>
            <a:schemeClr val="bg2"/>
          </a:solidFill>
          <a:ln w="12700">
            <a:solidFill>
              <a:schemeClr val="bg2"/>
            </a:solidFill>
            <a:prstDash val="solid"/>
          </a:ln>
        </p:spPr>
      </p:sp>
      <p:sp>
        <p:nvSpPr>
          <p:cNvPr id="9" name="Text 7"/>
          <p:cNvSpPr txBox="1"/>
          <p:nvPr/>
        </p:nvSpPr>
        <p:spPr>
          <a:xfrm>
            <a:off x="4572000" y="2103120"/>
            <a:ext cx="457200" cy="457200"/>
          </a:xfrm>
          <a:prstGeom prst="ellipse">
            <a:avLst/>
          </a:prstGeom>
          <a:solidFill>
            <a:schemeClr val="accent4"/>
          </a:solid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10" name="Text 8"/>
          <p:cNvSpPr txBox="1"/>
          <p:nvPr/>
        </p:nvSpPr>
        <p:spPr>
          <a:xfrm>
            <a:off x="5166360" y="2103120"/>
            <a:ext cx="2468880" cy="457200"/>
          </a:xfrm>
          <a:prstGeom prst="rect">
            <a:avLst/>
          </a:prstGeom>
          <a:noFill/>
          <a:ln/>
        </p:spPr>
        <p:txBody>
          <a:bodyPr wrap="square" lIns="0" tIns="0" rIns="0" bIns="0" rtlCol="0" anchor="ctr"/>
          <a:lstStyle/>
          <a:p>
            <a:pPr indent="0" marL="0">
              <a:buNone/>
            </a:pPr>
            <a:r>
              <a:rPr lang="en-US" sz="1800" b="1" dirty="0">
                <a:solidFill>
                  <a:schemeClr val="tx1"/>
                </a:solidFill>
              </a:rPr>
              <a:t>Known answer</a:t>
            </a:r>
            <a:endParaRPr lang="en-US" sz="1800" dirty="0"/>
          </a:p>
        </p:txBody>
      </p:sp>
      <p:sp>
        <p:nvSpPr>
          <p:cNvPr id="11" name="Text 9"/>
          <p:cNvSpPr txBox="1"/>
          <p:nvPr/>
        </p:nvSpPr>
        <p:spPr>
          <a:xfrm>
            <a:off x="4572000" y="2697480"/>
            <a:ext cx="3017520" cy="868680"/>
          </a:xfrm>
          <a:prstGeom prst="rect">
            <a:avLst/>
          </a:prstGeom>
          <a:noFill/>
          <a:ln/>
        </p:spPr>
        <p:txBody>
          <a:bodyPr wrap="square" lIns="0" tIns="0" rIns="0" bIns="0" rtlCol="0" anchor="t"/>
          <a:lstStyle/>
          <a:p>
            <a:pPr indent="0" marL="0">
              <a:buNone/>
            </a:pPr>
            <a:r>
              <a:rPr lang="en-US" sz="1400" dirty="0">
                <a:solidFill>
                  <a:schemeClr val="tx2"/>
                </a:solidFill>
              </a:rPr>
              <a:t>4×4 grid gives exactly 9 slots, proven optimal</a:t>
            </a:r>
            <a:endParaRPr lang="en-US" sz="1400" dirty="0"/>
          </a:p>
        </p:txBody>
      </p:sp>
      <p:sp>
        <p:nvSpPr>
          <p:cNvPr id="12" name="test Negative test"/>
          <p:cNvSpPr/>
          <p:nvPr/>
        </p:nvSpPr>
        <p:spPr>
          <a:xfrm>
            <a:off x="8046720" y="1828800"/>
            <a:ext cx="3520440" cy="1874520"/>
          </a:xfrm>
          <a:prstGeom prst="roundRect">
            <a:avLst>
              <a:gd name="adj" fmla="val 5854"/>
            </a:avLst>
          </a:prstGeom>
          <a:solidFill>
            <a:schemeClr val="bg2"/>
          </a:solidFill>
          <a:ln w="12700">
            <a:solidFill>
              <a:schemeClr val="bg2"/>
            </a:solidFill>
            <a:prstDash val="solid"/>
          </a:ln>
        </p:spPr>
      </p:sp>
      <p:sp>
        <p:nvSpPr>
          <p:cNvPr id="13" name="Text 11"/>
          <p:cNvSpPr txBox="1"/>
          <p:nvPr/>
        </p:nvSpPr>
        <p:spPr>
          <a:xfrm>
            <a:off x="8321040" y="2103120"/>
            <a:ext cx="457200" cy="457200"/>
          </a:xfrm>
          <a:prstGeom prst="ellipse">
            <a:avLst/>
          </a:prstGeom>
          <a:solidFill>
            <a:schemeClr val="accent4"/>
          </a:solid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14" name="Text 12"/>
          <p:cNvSpPr txBox="1"/>
          <p:nvPr/>
        </p:nvSpPr>
        <p:spPr>
          <a:xfrm>
            <a:off x="8915400" y="2103120"/>
            <a:ext cx="2468880" cy="457200"/>
          </a:xfrm>
          <a:prstGeom prst="rect">
            <a:avLst/>
          </a:prstGeom>
          <a:noFill/>
          <a:ln/>
        </p:spPr>
        <p:txBody>
          <a:bodyPr wrap="square" lIns="0" tIns="0" rIns="0" bIns="0" rtlCol="0" anchor="ctr"/>
          <a:lstStyle/>
          <a:p>
            <a:pPr indent="0" marL="0">
              <a:buNone/>
            </a:pPr>
            <a:r>
              <a:rPr lang="en-US" sz="1800" b="1" dirty="0">
                <a:solidFill>
                  <a:schemeClr val="tx1"/>
                </a:solidFill>
              </a:rPr>
              <a:t>Negative test</a:t>
            </a:r>
            <a:endParaRPr lang="en-US" sz="1800" dirty="0"/>
          </a:p>
        </p:txBody>
      </p:sp>
      <p:sp>
        <p:nvSpPr>
          <p:cNvPr id="15" name="Text 13"/>
          <p:cNvSpPr txBox="1"/>
          <p:nvPr/>
        </p:nvSpPr>
        <p:spPr>
          <a:xfrm>
            <a:off x="8321040" y="2697480"/>
            <a:ext cx="3017520" cy="868680"/>
          </a:xfrm>
          <a:prstGeom prst="rect">
            <a:avLst/>
          </a:prstGeom>
          <a:noFill/>
          <a:ln/>
        </p:spPr>
        <p:txBody>
          <a:bodyPr wrap="square" lIns="0" tIns="0" rIns="0" bIns="0" rtlCol="0" anchor="t"/>
          <a:lstStyle/>
          <a:p>
            <a:pPr indent="0" marL="0">
              <a:buNone/>
            </a:pPr>
            <a:r>
              <a:rPr lang="en-US" sz="1400" dirty="0">
                <a:solidFill>
                  <a:schemeClr val="tx2"/>
                </a:solidFill>
              </a:rPr>
              <a:t>Verifier rejects a schedule with a hidden terminal</a:t>
            </a:r>
            <a:endParaRPr lang="en-US" sz="1400" dirty="0"/>
          </a:p>
        </p:txBody>
      </p:sp>
      <p:sp>
        <p:nvSpPr>
          <p:cNvPr id="16" name="test Edge case"/>
          <p:cNvSpPr/>
          <p:nvPr/>
        </p:nvSpPr>
        <p:spPr>
          <a:xfrm>
            <a:off x="548640" y="3977640"/>
            <a:ext cx="3520440" cy="1874520"/>
          </a:xfrm>
          <a:prstGeom prst="roundRect">
            <a:avLst>
              <a:gd name="adj" fmla="val 5854"/>
            </a:avLst>
          </a:prstGeom>
          <a:solidFill>
            <a:schemeClr val="bg2"/>
          </a:solidFill>
          <a:ln w="12700">
            <a:solidFill>
              <a:schemeClr val="bg2"/>
            </a:solidFill>
            <a:prstDash val="solid"/>
          </a:ln>
        </p:spPr>
      </p:sp>
      <p:sp>
        <p:nvSpPr>
          <p:cNvPr id="17" name="Text 15"/>
          <p:cNvSpPr txBox="1"/>
          <p:nvPr/>
        </p:nvSpPr>
        <p:spPr>
          <a:xfrm>
            <a:off x="822960" y="4251960"/>
            <a:ext cx="457200" cy="457200"/>
          </a:xfrm>
          <a:prstGeom prst="ellipse">
            <a:avLst/>
          </a:prstGeom>
          <a:solidFill>
            <a:schemeClr val="accent4"/>
          </a:solid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18" name="Text 16"/>
          <p:cNvSpPr txBox="1"/>
          <p:nvPr/>
        </p:nvSpPr>
        <p:spPr>
          <a:xfrm>
            <a:off x="1417320" y="4251960"/>
            <a:ext cx="2468880" cy="457200"/>
          </a:xfrm>
          <a:prstGeom prst="rect">
            <a:avLst/>
          </a:prstGeom>
          <a:noFill/>
          <a:ln/>
        </p:spPr>
        <p:txBody>
          <a:bodyPr wrap="square" lIns="0" tIns="0" rIns="0" bIns="0" rtlCol="0" anchor="ctr"/>
          <a:lstStyle/>
          <a:p>
            <a:pPr indent="0" marL="0">
              <a:buNone/>
            </a:pPr>
            <a:r>
              <a:rPr lang="en-US" sz="1800" b="1" dirty="0">
                <a:solidFill>
                  <a:schemeClr val="tx1"/>
                </a:solidFill>
              </a:rPr>
              <a:t>Edge case</a:t>
            </a:r>
            <a:endParaRPr lang="en-US" sz="1800" dirty="0"/>
          </a:p>
        </p:txBody>
      </p:sp>
      <p:sp>
        <p:nvSpPr>
          <p:cNvPr id="19" name="Text 17"/>
          <p:cNvSpPr txBox="1"/>
          <p:nvPr/>
        </p:nvSpPr>
        <p:spPr>
          <a:xfrm>
            <a:off x="822960" y="4846320"/>
            <a:ext cx="3017520" cy="868680"/>
          </a:xfrm>
          <a:prstGeom prst="rect">
            <a:avLst/>
          </a:prstGeom>
          <a:noFill/>
          <a:ln/>
        </p:spPr>
        <p:txBody>
          <a:bodyPr wrap="square" lIns="0" tIns="0" rIns="0" bIns="0" rtlCol="0" anchor="t"/>
          <a:lstStyle/>
          <a:p>
            <a:pPr indent="0" marL="0">
              <a:buNone/>
            </a:pPr>
            <a:r>
              <a:rPr lang="en-US" sz="1400" dirty="0">
                <a:solidFill>
                  <a:schemeClr val="tx2"/>
                </a:solidFill>
              </a:rPr>
              <a:t>Isolated radios correctly share one slot</a:t>
            </a:r>
            <a:endParaRPr lang="en-US" sz="1400" dirty="0"/>
          </a:p>
        </p:txBody>
      </p:sp>
      <p:sp>
        <p:nvSpPr>
          <p:cNvPr id="20" name="test Property test"/>
          <p:cNvSpPr/>
          <p:nvPr/>
        </p:nvSpPr>
        <p:spPr>
          <a:xfrm>
            <a:off x="4297680" y="3977640"/>
            <a:ext cx="3520440" cy="1874520"/>
          </a:xfrm>
          <a:prstGeom prst="roundRect">
            <a:avLst>
              <a:gd name="adj" fmla="val 5854"/>
            </a:avLst>
          </a:prstGeom>
          <a:solidFill>
            <a:schemeClr val="bg2"/>
          </a:solidFill>
          <a:ln w="12700">
            <a:solidFill>
              <a:schemeClr val="bg2"/>
            </a:solidFill>
            <a:prstDash val="solid"/>
          </a:ln>
        </p:spPr>
      </p:sp>
      <p:sp>
        <p:nvSpPr>
          <p:cNvPr id="21" name="Text 19"/>
          <p:cNvSpPr txBox="1"/>
          <p:nvPr/>
        </p:nvSpPr>
        <p:spPr>
          <a:xfrm>
            <a:off x="4572000" y="4251960"/>
            <a:ext cx="457200" cy="457200"/>
          </a:xfrm>
          <a:prstGeom prst="ellipse">
            <a:avLst/>
          </a:prstGeom>
          <a:solidFill>
            <a:schemeClr val="accent4"/>
          </a:solid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22" name="Text 20"/>
          <p:cNvSpPr txBox="1"/>
          <p:nvPr/>
        </p:nvSpPr>
        <p:spPr>
          <a:xfrm>
            <a:off x="5166360" y="4251960"/>
            <a:ext cx="2468880" cy="457200"/>
          </a:xfrm>
          <a:prstGeom prst="rect">
            <a:avLst/>
          </a:prstGeom>
          <a:noFill/>
          <a:ln/>
        </p:spPr>
        <p:txBody>
          <a:bodyPr wrap="square" lIns="0" tIns="0" rIns="0" bIns="0" rtlCol="0" anchor="ctr"/>
          <a:lstStyle/>
          <a:p>
            <a:pPr indent="0" marL="0">
              <a:buNone/>
            </a:pPr>
            <a:r>
              <a:rPr lang="en-US" sz="1800" b="1" dirty="0">
                <a:solidFill>
                  <a:schemeClr val="tx1"/>
                </a:solidFill>
              </a:rPr>
              <a:t>Property test</a:t>
            </a:r>
            <a:endParaRPr lang="en-US" sz="1800" dirty="0"/>
          </a:p>
        </p:txBody>
      </p:sp>
      <p:sp>
        <p:nvSpPr>
          <p:cNvPr id="23" name="Text 21"/>
          <p:cNvSpPr txBox="1"/>
          <p:nvPr/>
        </p:nvSpPr>
        <p:spPr>
          <a:xfrm>
            <a:off x="4572000" y="4846320"/>
            <a:ext cx="3017520" cy="868680"/>
          </a:xfrm>
          <a:prstGeom prst="rect">
            <a:avLst/>
          </a:prstGeom>
          <a:noFill/>
          <a:ln/>
        </p:spPr>
        <p:txBody>
          <a:bodyPr wrap="square" lIns="0" tIns="0" rIns="0" bIns="0" rtlCol="0" anchor="t"/>
          <a:lstStyle/>
          <a:p>
            <a:pPr indent="0" marL="0">
              <a:buNone/>
            </a:pPr>
            <a:r>
              <a:rPr lang="en-US" sz="1400" dirty="0">
                <a:solidFill>
                  <a:schemeClr val="tx2"/>
                </a:solidFill>
              </a:rPr>
              <a:t>100 random layouts: every heuristic passes the verifier</a:t>
            </a:r>
            <a:endParaRPr lang="en-US" sz="1400" dirty="0"/>
          </a:p>
        </p:txBody>
      </p:sp>
      <p:sp>
        <p:nvSpPr>
          <p:cNvPr id="24" name="test Bridge round trip"/>
          <p:cNvSpPr/>
          <p:nvPr/>
        </p:nvSpPr>
        <p:spPr>
          <a:xfrm>
            <a:off x="8046720" y="3977640"/>
            <a:ext cx="3520440" cy="1874520"/>
          </a:xfrm>
          <a:prstGeom prst="roundRect">
            <a:avLst>
              <a:gd name="adj" fmla="val 5854"/>
            </a:avLst>
          </a:prstGeom>
          <a:solidFill>
            <a:schemeClr val="bg2"/>
          </a:solidFill>
          <a:ln w="12700">
            <a:solidFill>
              <a:schemeClr val="bg2"/>
            </a:solidFill>
            <a:prstDash val="solid"/>
          </a:ln>
        </p:spPr>
      </p:sp>
      <p:sp>
        <p:nvSpPr>
          <p:cNvPr id="25" name="Text 23"/>
          <p:cNvSpPr txBox="1"/>
          <p:nvPr/>
        </p:nvSpPr>
        <p:spPr>
          <a:xfrm>
            <a:off x="8321040" y="4251960"/>
            <a:ext cx="457200" cy="457200"/>
          </a:xfrm>
          <a:prstGeom prst="ellipse">
            <a:avLst/>
          </a:prstGeom>
          <a:solidFill>
            <a:schemeClr val="accent4"/>
          </a:solid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26" name="Text 24"/>
          <p:cNvSpPr txBox="1"/>
          <p:nvPr/>
        </p:nvSpPr>
        <p:spPr>
          <a:xfrm>
            <a:off x="8915400" y="4251960"/>
            <a:ext cx="2468880" cy="457200"/>
          </a:xfrm>
          <a:prstGeom prst="rect">
            <a:avLst/>
          </a:prstGeom>
          <a:noFill/>
          <a:ln/>
        </p:spPr>
        <p:txBody>
          <a:bodyPr wrap="square" lIns="0" tIns="0" rIns="0" bIns="0" rtlCol="0" anchor="ctr"/>
          <a:lstStyle/>
          <a:p>
            <a:pPr indent="0" marL="0">
              <a:buNone/>
            </a:pPr>
            <a:r>
              <a:rPr lang="en-US" sz="1800" b="1" dirty="0">
                <a:solidFill>
                  <a:schemeClr val="tx1"/>
                </a:solidFill>
              </a:rPr>
              <a:t>Bridge round trip</a:t>
            </a:r>
            <a:endParaRPr lang="en-US" sz="1800" dirty="0"/>
          </a:p>
        </p:txBody>
      </p:sp>
      <p:sp>
        <p:nvSpPr>
          <p:cNvPr id="27" name="Text 25"/>
          <p:cNvSpPr txBox="1"/>
          <p:nvPr/>
        </p:nvSpPr>
        <p:spPr>
          <a:xfrm>
            <a:off x="8321040" y="4846320"/>
            <a:ext cx="3017520" cy="868680"/>
          </a:xfrm>
          <a:prstGeom prst="rect">
            <a:avLst/>
          </a:prstGeom>
          <a:noFill/>
          <a:ln/>
        </p:spPr>
        <p:txBody>
          <a:bodyPr wrap="square" lIns="0" tIns="0" rIns="0" bIns="0" rtlCol="0" anchor="t"/>
          <a:lstStyle/>
          <a:p>
            <a:pPr indent="0" marL="0">
              <a:buNone/>
            </a:pPr>
            <a:r>
              <a:rPr lang="en-US" sz="1400" dirty="0">
                <a:solidFill>
                  <a:schemeClr val="tx2"/>
                </a:solidFill>
              </a:rPr>
              <a:t>Schedule → EMANE XML → parsed back is identical</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lot chip"/>
          <p:cNvSpPr txBox="1"/>
          <p:nvPr/>
        </p:nvSpPr>
        <p:spPr>
          <a:xfrm>
            <a:off x="548640" y="347472"/>
            <a:ext cx="2980944" cy="292608"/>
          </a:xfrm>
          <a:prstGeom prst="roundRect">
            <a:avLst>
              <a:gd name="adj" fmla="val 25000"/>
            </a:avLst>
          </a:prstGeom>
          <a:solidFill>
            <a:schemeClr val="accent1"/>
          </a:solidFill>
          <a:ln/>
        </p:spPr>
        <p:txBody>
          <a:bodyPr wrap="square" lIns="0" tIns="0" rIns="0" bIns="0" rtlCol="0" anchor="ctr"/>
          <a:lstStyle/>
          <a:p>
            <a:pPr algn="ctr" indent="0" marL="0">
              <a:buNone/>
            </a:pPr>
            <a:r>
              <a:rPr lang="en-US" sz="1100" b="1" spc="100" kern="0" dirty="0">
                <a:solidFill>
                  <a:schemeClr val="tx1"/>
                </a:solidFill>
              </a:rPr>
              <a:t>SLOT 11  ·  WHAT'S NEXT</a:t>
            </a:r>
            <a:endParaRPr lang="en-US" sz="1100" dirty="0"/>
          </a:p>
        </p:txBody>
      </p:sp>
      <p:sp>
        <p:nvSpPr>
          <p:cNvPr id="3" name="Text 0"/>
          <p:cNvSpPr/>
          <p:nvPr>
            <p:ph idx="100" type="title" hasCustomPrompt="1"/>
          </p:nvPr>
        </p:nvSpPr>
        <p:spPr>
          <a:xfrm>
            <a:off x="548640" y="749808"/>
            <a:ext cx="11064240" cy="731520"/>
          </a:xfrm>
          <a:prstGeom prst="rect">
            <a:avLst/>
          </a:prstGeom>
          <a:noFill/>
          <a:ln/>
        </p:spPr>
        <p:txBody>
          <a:bodyPr wrap="square" lIns="0" tIns="0" rIns="0" bIns="0" rtlCol="0" anchor="t"/>
          <a:lstStyle/>
          <a:p>
            <a:pPr algn="l" indent="0" marL="0">
              <a:buNone/>
            </a:pPr>
            <a:r>
              <a:rPr lang="en-US" sz="3400" b="1" dirty="0">
                <a:solidFill>
                  <a:schemeClr val="tx1"/>
                </a:solidFill>
              </a:rPr>
              <a:t>Where I would take it with more time</a:t>
            </a:r>
            <a:endParaRPr lang="en-US" sz="3400" dirty="0"/>
          </a:p>
        </p:txBody>
      </p:sp>
      <p:sp>
        <p:nvSpPr>
          <p:cNvPr id="4" name="next Moving radios"/>
          <p:cNvSpPr/>
          <p:nvPr/>
        </p:nvSpPr>
        <p:spPr>
          <a:xfrm>
            <a:off x="548640" y="1828800"/>
            <a:ext cx="5394960" cy="1920240"/>
          </a:xfrm>
          <a:prstGeom prst="roundRect">
            <a:avLst>
              <a:gd name="adj" fmla="val 5714"/>
            </a:avLst>
          </a:prstGeom>
          <a:solidFill>
            <a:schemeClr val="bg2"/>
          </a:solidFill>
          <a:ln w="12700">
            <a:solidFill>
              <a:schemeClr val="bg2"/>
            </a:solidFill>
            <a:prstDash val="solid"/>
          </a:ln>
        </p:spPr>
      </p:sp>
      <p:sp>
        <p:nvSpPr>
          <p:cNvPr id="5" name="Text 3"/>
          <p:cNvSpPr txBox="1"/>
          <p:nvPr/>
        </p:nvSpPr>
        <p:spPr>
          <a:xfrm>
            <a:off x="868680" y="2103120"/>
            <a:ext cx="4754880" cy="457200"/>
          </a:xfrm>
          <a:prstGeom prst="rect">
            <a:avLst/>
          </a:prstGeom>
          <a:noFill/>
          <a:ln/>
        </p:spPr>
        <p:txBody>
          <a:bodyPr wrap="square" lIns="0" tIns="0" rIns="0" bIns="0" rtlCol="0" anchor="ctr"/>
          <a:lstStyle/>
          <a:p>
            <a:pPr indent="0" marL="0">
              <a:buNone/>
            </a:pPr>
            <a:r>
              <a:rPr lang="en-US" sz="2000" b="1" dirty="0">
                <a:solidFill>
                  <a:schemeClr val="accent2"/>
                </a:solidFill>
              </a:rPr>
              <a:t>Moving radios</a:t>
            </a:r>
            <a:endParaRPr lang="en-US" sz="2000" dirty="0"/>
          </a:p>
        </p:txBody>
      </p:sp>
      <p:sp>
        <p:nvSpPr>
          <p:cNvPr id="6" name="Text 4"/>
          <p:cNvSpPr txBox="1"/>
          <p:nvPr/>
        </p:nvSpPr>
        <p:spPr>
          <a:xfrm>
            <a:off x="868680" y="2651760"/>
            <a:ext cx="4754880" cy="914400"/>
          </a:xfrm>
          <a:prstGeom prst="rect">
            <a:avLst/>
          </a:prstGeom>
          <a:noFill/>
          <a:ln/>
        </p:spPr>
        <p:txBody>
          <a:bodyPr wrap="square" lIns="0" tIns="0" rIns="0" bIns="0" rtlCol="0" anchor="t"/>
          <a:lstStyle/>
          <a:p>
            <a:pPr indent="0" marL="0">
              <a:buNone/>
            </a:pPr>
            <a:r>
              <a:rPr lang="en-US" sz="1500" dirty="0">
                <a:solidFill>
                  <a:schemeClr val="tx2"/>
                </a:solidFill>
              </a:rPr>
              <a:t>MANETs move. Recolour only the affected area and push a new schedule event.</a:t>
            </a:r>
            <a:endParaRPr lang="en-US" sz="1500" dirty="0"/>
          </a:p>
        </p:txBody>
      </p:sp>
      <p:sp>
        <p:nvSpPr>
          <p:cNvPr id="7" name="next Traffic-aware slots"/>
          <p:cNvSpPr/>
          <p:nvPr/>
        </p:nvSpPr>
        <p:spPr>
          <a:xfrm>
            <a:off x="6172200" y="1828800"/>
            <a:ext cx="5394960" cy="1920240"/>
          </a:xfrm>
          <a:prstGeom prst="roundRect">
            <a:avLst>
              <a:gd name="adj" fmla="val 5714"/>
            </a:avLst>
          </a:prstGeom>
          <a:solidFill>
            <a:schemeClr val="bg2"/>
          </a:solidFill>
          <a:ln w="12700">
            <a:solidFill>
              <a:schemeClr val="bg2"/>
            </a:solidFill>
            <a:prstDash val="solid"/>
          </a:ln>
        </p:spPr>
      </p:sp>
      <p:sp>
        <p:nvSpPr>
          <p:cNvPr id="8" name="Text 6"/>
          <p:cNvSpPr txBox="1"/>
          <p:nvPr/>
        </p:nvSpPr>
        <p:spPr>
          <a:xfrm>
            <a:off x="6492240" y="2103120"/>
            <a:ext cx="4754880" cy="457200"/>
          </a:xfrm>
          <a:prstGeom prst="rect">
            <a:avLst/>
          </a:prstGeom>
          <a:noFill/>
          <a:ln/>
        </p:spPr>
        <p:txBody>
          <a:bodyPr wrap="square" lIns="0" tIns="0" rIns="0" bIns="0" rtlCol="0" anchor="ctr"/>
          <a:lstStyle/>
          <a:p>
            <a:pPr indent="0" marL="0">
              <a:buNone/>
            </a:pPr>
            <a:r>
              <a:rPr lang="en-US" sz="2000" b="1" dirty="0">
                <a:solidFill>
                  <a:schemeClr val="accent2"/>
                </a:solidFill>
              </a:rPr>
              <a:t>Traffic-aware slots</a:t>
            </a:r>
            <a:endParaRPr lang="en-US" sz="2000" dirty="0"/>
          </a:p>
        </p:txBody>
      </p:sp>
      <p:sp>
        <p:nvSpPr>
          <p:cNvPr id="9" name="Text 7"/>
          <p:cNvSpPr txBox="1"/>
          <p:nvPr/>
        </p:nvSpPr>
        <p:spPr>
          <a:xfrm>
            <a:off x="6492240" y="2651760"/>
            <a:ext cx="4754880" cy="914400"/>
          </a:xfrm>
          <a:prstGeom prst="rect">
            <a:avLst/>
          </a:prstGeom>
          <a:noFill/>
          <a:ln/>
        </p:spPr>
        <p:txBody>
          <a:bodyPr wrap="square" lIns="0" tIns="0" rIns="0" bIns="0" rtlCol="0" anchor="t"/>
          <a:lstStyle/>
          <a:p>
            <a:pPr indent="0" marL="0">
              <a:buNone/>
            </a:pPr>
            <a:r>
              <a:rPr lang="en-US" sz="1500" dirty="0">
                <a:solidFill>
                  <a:schemeClr val="tx2"/>
                </a:solidFill>
              </a:rPr>
              <a:t>Relays and gateways need more airtime. Use weighted colouring: k slots per radio.</a:t>
            </a:r>
            <a:endParaRPr lang="en-US" sz="1500" dirty="0"/>
          </a:p>
        </p:txBody>
      </p:sp>
      <p:sp>
        <p:nvSpPr>
          <p:cNvPr id="10" name="next Real propagation"/>
          <p:cNvSpPr/>
          <p:nvPr/>
        </p:nvSpPr>
        <p:spPr>
          <a:xfrm>
            <a:off x="548640" y="4023360"/>
            <a:ext cx="5394960" cy="1920240"/>
          </a:xfrm>
          <a:prstGeom prst="roundRect">
            <a:avLst>
              <a:gd name="adj" fmla="val 5714"/>
            </a:avLst>
          </a:prstGeom>
          <a:solidFill>
            <a:schemeClr val="bg2"/>
          </a:solidFill>
          <a:ln w="12700">
            <a:solidFill>
              <a:schemeClr val="bg2"/>
            </a:solidFill>
            <a:prstDash val="solid"/>
          </a:ln>
        </p:spPr>
      </p:sp>
      <p:sp>
        <p:nvSpPr>
          <p:cNvPr id="11" name="Text 9"/>
          <p:cNvSpPr txBox="1"/>
          <p:nvPr/>
        </p:nvSpPr>
        <p:spPr>
          <a:xfrm>
            <a:off x="868680" y="4297680"/>
            <a:ext cx="4754880" cy="457200"/>
          </a:xfrm>
          <a:prstGeom prst="rect">
            <a:avLst/>
          </a:prstGeom>
          <a:noFill/>
          <a:ln/>
        </p:spPr>
        <p:txBody>
          <a:bodyPr wrap="square" lIns="0" tIns="0" rIns="0" bIns="0" rtlCol="0" anchor="ctr"/>
          <a:lstStyle/>
          <a:p>
            <a:pPr indent="0" marL="0">
              <a:buNone/>
            </a:pPr>
            <a:r>
              <a:rPr lang="en-US" sz="2000" b="1" dirty="0">
                <a:solidFill>
                  <a:schemeClr val="accent2"/>
                </a:solidFill>
              </a:rPr>
              <a:t>Real propagation</a:t>
            </a:r>
            <a:endParaRPr lang="en-US" sz="2000" dirty="0"/>
          </a:p>
        </p:txBody>
      </p:sp>
      <p:sp>
        <p:nvSpPr>
          <p:cNvPr id="12" name="Text 10"/>
          <p:cNvSpPr txBox="1"/>
          <p:nvPr/>
        </p:nvSpPr>
        <p:spPr>
          <a:xfrm>
            <a:off x="868680" y="4846320"/>
            <a:ext cx="4754880" cy="914400"/>
          </a:xfrm>
          <a:prstGeom prst="rect">
            <a:avLst/>
          </a:prstGeom>
          <a:noFill/>
          <a:ln/>
        </p:spPr>
        <p:txBody>
          <a:bodyPr wrap="square" lIns="0" tIns="0" rIns="0" bIns="0" rtlCol="0" anchor="t"/>
          <a:lstStyle/>
          <a:p>
            <a:pPr indent="0" marL="0">
              <a:buNone/>
            </a:pPr>
            <a:r>
              <a:rPr lang="en-US" sz="1500" dirty="0">
                <a:solidFill>
                  <a:schemeClr val="tx2"/>
                </a:solidFill>
              </a:rPr>
              <a:t>Build links from SNR, not a perfect 500 m circle, so both parts share the same physics.</a:t>
            </a:r>
            <a:endParaRPr lang="en-US" sz="1500" dirty="0"/>
          </a:p>
        </p:txBody>
      </p:sp>
      <p:sp>
        <p:nvSpPr>
          <p:cNvPr id="13" name="next Distributed planning"/>
          <p:cNvSpPr/>
          <p:nvPr/>
        </p:nvSpPr>
        <p:spPr>
          <a:xfrm>
            <a:off x="6172200" y="4023360"/>
            <a:ext cx="5394960" cy="1920240"/>
          </a:xfrm>
          <a:prstGeom prst="roundRect">
            <a:avLst>
              <a:gd name="adj" fmla="val 5714"/>
            </a:avLst>
          </a:prstGeom>
          <a:solidFill>
            <a:schemeClr val="bg2"/>
          </a:solidFill>
          <a:ln w="12700">
            <a:solidFill>
              <a:schemeClr val="bg2"/>
            </a:solidFill>
            <a:prstDash val="solid"/>
          </a:ln>
        </p:spPr>
      </p:sp>
      <p:sp>
        <p:nvSpPr>
          <p:cNvPr id="14" name="Text 12"/>
          <p:cNvSpPr txBox="1"/>
          <p:nvPr/>
        </p:nvSpPr>
        <p:spPr>
          <a:xfrm>
            <a:off x="6492240" y="4297680"/>
            <a:ext cx="4754880" cy="457200"/>
          </a:xfrm>
          <a:prstGeom prst="rect">
            <a:avLst/>
          </a:prstGeom>
          <a:noFill/>
          <a:ln/>
        </p:spPr>
        <p:txBody>
          <a:bodyPr wrap="square" lIns="0" tIns="0" rIns="0" bIns="0" rtlCol="0" anchor="ctr"/>
          <a:lstStyle/>
          <a:p>
            <a:pPr indent="0" marL="0">
              <a:buNone/>
            </a:pPr>
            <a:r>
              <a:rPr lang="en-US" sz="2000" b="1" dirty="0">
                <a:solidFill>
                  <a:schemeClr val="accent2"/>
                </a:solidFill>
              </a:rPr>
              <a:t>Distributed planning</a:t>
            </a:r>
            <a:endParaRPr lang="en-US" sz="2000" dirty="0"/>
          </a:p>
        </p:txBody>
      </p:sp>
      <p:sp>
        <p:nvSpPr>
          <p:cNvPr id="15" name="Text 13"/>
          <p:cNvSpPr txBox="1"/>
          <p:nvPr/>
        </p:nvSpPr>
        <p:spPr>
          <a:xfrm>
            <a:off x="6492240" y="4846320"/>
            <a:ext cx="4754880" cy="914400"/>
          </a:xfrm>
          <a:prstGeom prst="rect">
            <a:avLst/>
          </a:prstGeom>
          <a:noFill/>
          <a:ln/>
        </p:spPr>
        <p:txBody>
          <a:bodyPr wrap="square" lIns="0" tIns="0" rIns="0" bIns="0" rtlCol="0" anchor="t"/>
          <a:lstStyle/>
          <a:p>
            <a:pPr indent="0" marL="0">
              <a:buNone/>
            </a:pPr>
            <a:r>
              <a:rPr lang="en-US" sz="1500" dirty="0">
                <a:solidFill>
                  <a:schemeClr val="tx2"/>
                </a:solidFill>
              </a:rPr>
              <a:t>Remove the single central brain with a distributed distance-2 colouring protocol.</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lot chip"/>
          <p:cNvSpPr txBox="1"/>
          <p:nvPr/>
        </p:nvSpPr>
        <p:spPr>
          <a:xfrm>
            <a:off x="640080" y="1280160"/>
            <a:ext cx="3090672" cy="292608"/>
          </a:xfrm>
          <a:prstGeom prst="roundRect">
            <a:avLst>
              <a:gd name="adj" fmla="val 25000"/>
            </a:avLst>
          </a:prstGeom>
          <a:solidFill>
            <a:schemeClr val="accent1"/>
          </a:solidFill>
          <a:ln/>
        </p:spPr>
        <p:txBody>
          <a:bodyPr wrap="square" lIns="0" tIns="0" rIns="0" bIns="0" rtlCol="0" anchor="ctr"/>
          <a:lstStyle/>
          <a:p>
            <a:pPr algn="ctr" indent="0" marL="0">
              <a:buNone/>
            </a:pPr>
            <a:r>
              <a:rPr lang="en-US" sz="1100" b="1" spc="100" kern="0" dirty="0">
                <a:solidFill>
                  <a:schemeClr val="tx1"/>
                </a:solidFill>
              </a:rPr>
              <a:t>SLOT 12  ·  END OF FRAME</a:t>
            </a:r>
            <a:endParaRPr lang="en-US" sz="1100" dirty="0"/>
          </a:p>
        </p:txBody>
      </p:sp>
      <p:sp>
        <p:nvSpPr>
          <p:cNvPr id="3" name="Text 0"/>
          <p:cNvSpPr/>
          <p:nvPr>
            <p:ph idx="100" type="title" hasCustomPrompt="1"/>
          </p:nvPr>
        </p:nvSpPr>
        <p:spPr>
          <a:xfrm>
            <a:off x="640080" y="2011680"/>
            <a:ext cx="10881360" cy="1371600"/>
          </a:xfrm>
          <a:prstGeom prst="rect">
            <a:avLst/>
          </a:prstGeom>
          <a:noFill/>
          <a:ln/>
        </p:spPr>
        <p:txBody>
          <a:bodyPr wrap="square" lIns="0" tIns="0" rIns="0" bIns="0" rtlCol="0" anchor="t"/>
          <a:lstStyle/>
          <a:p>
            <a:pPr algn="l" indent="0" marL="0">
              <a:buNone/>
            </a:pPr>
            <a:r>
              <a:rPr lang="en-US" sz="4400" b="1" dirty="0">
                <a:solidFill>
                  <a:schemeClr val="bg1"/>
                </a:solidFill>
              </a:rPr>
              <a:t>Thank you</a:t>
            </a:r>
            <a:endParaRPr lang="en-US" sz="4400" dirty="0"/>
          </a:p>
        </p:txBody>
      </p:sp>
      <p:sp>
        <p:nvSpPr>
          <p:cNvPr id="4" name="Text 2"/>
          <p:cNvSpPr txBox="1"/>
          <p:nvPr/>
        </p:nvSpPr>
        <p:spPr>
          <a:xfrm>
            <a:off x="640080" y="3108960"/>
            <a:ext cx="10789920" cy="1463040"/>
          </a:xfrm>
          <a:prstGeom prst="rect">
            <a:avLst/>
          </a:prstGeom>
          <a:noFill/>
          <a:ln/>
        </p:spPr>
        <p:txBody>
          <a:bodyPr wrap="square" lIns="0" tIns="0" rIns="0" bIns="0" rtlCol="0" anchor="ctr"/>
          <a:lstStyle/>
          <a:p>
            <a:pPr indent="0" marL="0">
              <a:spcAft>
                <a:spcPts val="600"/>
              </a:spcAft>
              <a:buNone/>
            </a:pPr>
            <a:r>
              <a:rPr lang="en-US" sz="1600" b="1" dirty="0">
                <a:solidFill>
                  <a:schemeClr val="accent1"/>
                </a:solidFill>
              </a:rPr>
              <a:t>Live demo</a:t>
            </a:r>
            <a:endParaRPr lang="en-US" sz="1600" dirty="0"/>
          </a:p>
          <a:p>
            <a:pPr indent="0" marL="0">
              <a:spcAft>
                <a:spcPts val="600"/>
              </a:spcAft>
              <a:buNone/>
            </a:pPr>
            <a:r>
              <a:rPr lang="en-US" sz="1600" dirty="0">
                <a:solidFill>
                  <a:schemeClr val="bg2"/>
                </a:solidFill>
                <a:latin typeface="Courier New" pitchFamily="34" charset="0"/>
                <a:ea typeface="Courier New" pitchFamily="34" charset="-122"/>
                <a:cs typeface="Courier New" pitchFamily="34" charset="-120"/>
              </a:rPr>
              <a:t>python3 schedule.py --file examples/grid_4x4.json --plot output/grid.png</a:t>
            </a:r>
            <a:endParaRPr lang="en-US" sz="1600" dirty="0"/>
          </a:p>
          <a:p>
            <a:pPr indent="0" marL="0">
              <a:spcAft>
                <a:spcPts val="600"/>
              </a:spcAft>
              <a:buNone/>
            </a:pPr>
            <a:r>
              <a:rPr lang="en-US" sz="1600" dirty="0">
                <a:solidFill>
                  <a:schemeClr val="bg2"/>
                </a:solidFill>
                <a:latin typeface="Courier New" pitchFamily="34" charset="0"/>
                <a:ea typeface="Courier New" pitchFamily="34" charset="-122"/>
                <a:cs typeface="Courier New" pitchFamily="34" charset="-120"/>
              </a:rPr>
              <a:t>python3 emane/bridge.py output/schedule.json</a:t>
            </a:r>
            <a:endParaRPr lang="en-US" sz="1600" dirty="0"/>
          </a:p>
        </p:txBody>
      </p:sp>
      <p:sp>
        <p:nvSpPr>
          <p:cNvPr id="5" name="Text 3"/>
          <p:cNvSpPr txBox="1"/>
          <p:nvPr/>
        </p:nvSpPr>
        <p:spPr>
          <a:xfrm>
            <a:off x="640080" y="6035040"/>
            <a:ext cx="9144000" cy="365760"/>
          </a:xfrm>
          <a:prstGeom prst="rect">
            <a:avLst/>
          </a:prstGeom>
          <a:noFill/>
          <a:ln/>
        </p:spPr>
        <p:txBody>
          <a:bodyPr wrap="square" lIns="0" tIns="0" rIns="0" bIns="0" rtlCol="0" anchor="ctr"/>
          <a:lstStyle/>
          <a:p>
            <a:pPr indent="0" marL="0">
              <a:buNone/>
            </a:pPr>
            <a:r>
              <a:rPr lang="en-US" sz="1400" dirty="0">
                <a:solidFill>
                  <a:schemeClr val="accent6"/>
                </a:solidFill>
              </a:rPr>
              <a:t>Aadya Jain  ·  Questions welcome</a:t>
            </a:r>
            <a:endParaRPr lang="en-US" sz="1400" dirty="0"/>
          </a:p>
        </p:txBody>
      </p:sp>
    </p:spTree>
  </p:cSld>
  <p:clrMapOvr>
    <a:masterClrMapping/>
  </p:clrMapOvr>
</p:sld>
</file>

<file path=ppt/theme/theme1.xml><?xml version="1.0" encoding="utf-8"?>
<a:theme xmlns:a="http://schemas.openxmlformats.org/drawingml/2006/main" name="TDMA Signal">
  <a:themeElements>
    <a:clrScheme name="TDMA Signal">
      <a:dk1>
        <a:srgbClr val="0E1A2B"/>
      </a:dk1>
      <a:lt1>
        <a:srgbClr val="FFFFFF"/>
      </a:lt1>
      <a:dk2>
        <a:srgbClr val="4A5568"/>
      </a:dk2>
      <a:lt2>
        <a:srgbClr val="EEF2F6"/>
      </a:lt2>
      <a:accent1>
        <a:srgbClr val="F2A33A"/>
      </a:accent1>
      <a:accent2>
        <a:srgbClr val="1B9AAA"/>
      </a:accent2>
      <a:accent3>
        <a:srgbClr val="D9483B"/>
      </a:accent3>
      <a:accent4>
        <a:srgbClr val="2E9E5B"/>
      </a:accent4>
      <a:accent5>
        <a:srgbClr val="6C5CE7"/>
      </a:accent5>
      <a:accent6>
        <a:srgbClr val="8A96A8"/>
      </a:accent6>
      <a:hlink>
        <a:srgbClr val="1B9AAA"/>
      </a:hlink>
      <a:folHlink>
        <a:srgbClr val="6C5CE7"/>
      </a:folHlink>
    </a:clrScheme>
    <a:fontScheme name="TDMA Signal">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TDMA Schedule Planner and Optimizer</dc:title>
  <dc:subject>PptxGenJS Presentation</dc:subject>
  <dc:creator>Aadya Jain</dc:creator>
  <cp:lastModifiedBy>Aadya Jain</cp:lastModifiedBy>
  <cp:revision>1</cp:revision>
  <dcterms:created xsi:type="dcterms:W3CDTF">2026-10-06T12:51:06Z</dcterms:created>
  <dcterms:modified xsi:type="dcterms:W3CDTF">2026-10-06T12:51:06Z</dcterms:modified>
</cp:coreProperties>
</file>